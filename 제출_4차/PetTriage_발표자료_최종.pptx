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e09acd1e0b4cdf" /><Relationship Type="http://schemas.openxmlformats.org/officeDocument/2006/relationships/extended-properties" Target="/docProps/app.xml" Id="Rf57af8dedd5743e4" /><Relationship Type="http://schemas.openxmlformats.org/officeDocument/2006/relationships/officeDocument" Target="/ppt/presentation.xml" Id="R5b8f0303c457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5ef69bae0040d6"/>
  </p:sldMasterIdLst>
  <p:notesMasterIdLst>
    <p:notesMasterId xmlns:r="http://schemas.openxmlformats.org/officeDocument/2006/relationships" r:id="Ra9fda92e36054295"/>
  </p:notesMasterIdLst>
  <p:sldIdLst>
    <p:sldId xmlns:r="http://schemas.openxmlformats.org/officeDocument/2006/relationships" id="256" r:id="Rbde98b65bfaf40fe"/>
    <p:sldId xmlns:r="http://schemas.openxmlformats.org/officeDocument/2006/relationships" id="257" r:id="R5ba3da15a4674269"/>
    <p:sldId xmlns:r="http://schemas.openxmlformats.org/officeDocument/2006/relationships" id="258" r:id="R000b6a3137a1468c"/>
    <p:sldId xmlns:r="http://schemas.openxmlformats.org/officeDocument/2006/relationships" id="259" r:id="R5c5c1fda29644cca"/>
    <p:sldId xmlns:r="http://schemas.openxmlformats.org/officeDocument/2006/relationships" id="260" r:id="R5dcd8590fbd84c24"/>
    <p:sldId xmlns:r="http://schemas.openxmlformats.org/officeDocument/2006/relationships" id="261" r:id="R473d6e5f3aa14ad9"/>
    <p:sldId xmlns:r="http://schemas.openxmlformats.org/officeDocument/2006/relationships" id="262" r:id="R222606d720944394"/>
    <p:sldId xmlns:r="http://schemas.openxmlformats.org/officeDocument/2006/relationships" id="263" r:id="R8a08b5c630a3466d"/>
    <p:sldId xmlns:r="http://schemas.openxmlformats.org/officeDocument/2006/relationships" id="264" r:id="R49e7f87e6b3247b3"/>
    <p:sldId xmlns:r="http://schemas.openxmlformats.org/officeDocument/2006/relationships" id="265" r:id="Rb6b6cdf93ee44d92"/>
    <p:sldId xmlns:r="http://schemas.openxmlformats.org/officeDocument/2006/relationships" id="266" r:id="R335aa7a5e56a4fd2"/>
    <p:sldId xmlns:r="http://schemas.openxmlformats.org/officeDocument/2006/relationships" id="267" r:id="R92bab22677d543ba"/>
    <p:sldId xmlns:r="http://schemas.openxmlformats.org/officeDocument/2006/relationships" id="268" r:id="Rfa047eed10c54929"/>
    <p:sldId xmlns:r="http://schemas.openxmlformats.org/officeDocument/2006/relationships" id="269" r:id="Rb229eb9779ec42ae"/>
    <p:sldId xmlns:r="http://schemas.openxmlformats.org/officeDocument/2006/relationships" id="270" r:id="R2163af3c575c452c"/>
    <p:sldId xmlns:r="http://schemas.openxmlformats.org/officeDocument/2006/relationships" id="271" r:id="Re39b2e9058eb4207"/>
    <p:sldId xmlns:r="http://schemas.openxmlformats.org/officeDocument/2006/relationships" id="272" r:id="R5d9bee0613f14797"/>
    <p:sldId xmlns:r="http://schemas.openxmlformats.org/officeDocument/2006/relationships" id="273" r:id="R6804d4abe54f436a"/>
    <p:sldId xmlns:r="http://schemas.openxmlformats.org/officeDocument/2006/relationships" id="274" r:id="R68df64ad07ff4fa0"/>
    <p:sldId xmlns:r="http://schemas.openxmlformats.org/officeDocument/2006/relationships" id="275" r:id="Rbfbcf8c9873a4163"/>
    <p:sldId xmlns:r="http://schemas.openxmlformats.org/officeDocument/2006/relationships" id="276" r:id="R25f8f5e2af474646"/>
    <p:sldId xmlns:r="http://schemas.openxmlformats.org/officeDocument/2006/relationships" id="277" r:id="Rec58fccfa93c43cf"/>
    <p:sldId xmlns:r="http://schemas.openxmlformats.org/officeDocument/2006/relationships" id="278" r:id="Rb149a1de0c2e4668"/>
    <p:sldId xmlns:r="http://schemas.openxmlformats.org/officeDocument/2006/relationships" id="279" r:id="R572da68c67af4a08"/>
    <p:sldId xmlns:r="http://schemas.openxmlformats.org/officeDocument/2006/relationships" id="280" r:id="Rea594749be3941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b8a68186a84999" /><Relationship Type="http://schemas.openxmlformats.org/officeDocument/2006/relationships/slideMaster" Target="/ppt/slideMasters/slideMaster1.xml" Id="R115ef69bae0040d6" /><Relationship Type="http://schemas.openxmlformats.org/officeDocument/2006/relationships/notesMaster" Target="/ppt/notesMasters/notesMaster1.xml" Id="Ra9fda92e36054295" /><Relationship Type="http://schemas.openxmlformats.org/officeDocument/2006/relationships/presProps" Target="/ppt/presProps.xml" Id="R7977061482404440" /><Relationship Type="http://schemas.openxmlformats.org/officeDocument/2006/relationships/tableStyles" Target="/ppt/tableStyles.xml" Id="Rd25cc8c322e74403" /><Relationship Type="http://schemas.openxmlformats.org/officeDocument/2006/relationships/slide" Target="/ppt/slides/slide1.xml" Id="Rbde98b65bfaf40fe" /><Relationship Type="http://schemas.openxmlformats.org/officeDocument/2006/relationships/slide" Target="/ppt/slides/slide2.xml" Id="R5ba3da15a4674269" /><Relationship Type="http://schemas.openxmlformats.org/officeDocument/2006/relationships/slide" Target="/ppt/slides/slide3.xml" Id="R000b6a3137a1468c" /><Relationship Type="http://schemas.openxmlformats.org/officeDocument/2006/relationships/slide" Target="/ppt/slides/slide4.xml" Id="R5c5c1fda29644cca" /><Relationship Type="http://schemas.openxmlformats.org/officeDocument/2006/relationships/slide" Target="/ppt/slides/slide5.xml" Id="R5dcd8590fbd84c24" /><Relationship Type="http://schemas.openxmlformats.org/officeDocument/2006/relationships/slide" Target="/ppt/slides/slide6.xml" Id="R473d6e5f3aa14ad9" /><Relationship Type="http://schemas.openxmlformats.org/officeDocument/2006/relationships/slide" Target="/ppt/slides/slide7.xml" Id="R222606d720944394" /><Relationship Type="http://schemas.openxmlformats.org/officeDocument/2006/relationships/slide" Target="/ppt/slides/slide8.xml" Id="R8a08b5c630a3466d" /><Relationship Type="http://schemas.openxmlformats.org/officeDocument/2006/relationships/slide" Target="/ppt/slides/slide9.xml" Id="R49e7f87e6b3247b3" /><Relationship Type="http://schemas.openxmlformats.org/officeDocument/2006/relationships/slide" Target="/ppt/slides/slide10.xml" Id="Rb6b6cdf93ee44d92" /><Relationship Type="http://schemas.openxmlformats.org/officeDocument/2006/relationships/slide" Target="/ppt/slides/slide11.xml" Id="R335aa7a5e56a4fd2" /><Relationship Type="http://schemas.openxmlformats.org/officeDocument/2006/relationships/slide" Target="/ppt/slides/slide12.xml" Id="R92bab22677d543ba" /><Relationship Type="http://schemas.openxmlformats.org/officeDocument/2006/relationships/slide" Target="/ppt/slides/slide13.xml" Id="Rfa047eed10c54929" /><Relationship Type="http://schemas.openxmlformats.org/officeDocument/2006/relationships/slide" Target="/ppt/slides/slide14.xml" Id="Rb229eb9779ec42ae" /><Relationship Type="http://schemas.openxmlformats.org/officeDocument/2006/relationships/slide" Target="/ppt/slides/slide15.xml" Id="R2163af3c575c452c" /><Relationship Type="http://schemas.openxmlformats.org/officeDocument/2006/relationships/slide" Target="/ppt/slides/slide16.xml" Id="Re39b2e9058eb4207" /><Relationship Type="http://schemas.openxmlformats.org/officeDocument/2006/relationships/slide" Target="/ppt/slides/slide17.xml" Id="R5d9bee0613f14797" /><Relationship Type="http://schemas.openxmlformats.org/officeDocument/2006/relationships/slide" Target="/ppt/slides/slide18.xml" Id="R6804d4abe54f436a" /><Relationship Type="http://schemas.openxmlformats.org/officeDocument/2006/relationships/slide" Target="/ppt/slides/slide19.xml" Id="R68df64ad07ff4fa0" /><Relationship Type="http://schemas.openxmlformats.org/officeDocument/2006/relationships/slide" Target="/ppt/slides/slide20.xml" Id="Rbfbcf8c9873a4163" /><Relationship Type="http://schemas.openxmlformats.org/officeDocument/2006/relationships/slide" Target="/ppt/slides/slide21.xml" Id="R25f8f5e2af474646" /><Relationship Type="http://schemas.openxmlformats.org/officeDocument/2006/relationships/slide" Target="/ppt/slides/slide22.xml" Id="Rec58fccfa93c43cf" /><Relationship Type="http://schemas.openxmlformats.org/officeDocument/2006/relationships/slide" Target="/ppt/slides/slide23.xml" Id="Rb149a1de0c2e4668" /><Relationship Type="http://schemas.openxmlformats.org/officeDocument/2006/relationships/slide" Target="/ppt/slides/slide24.xml" Id="R572da68c67af4a08" /><Relationship Type="http://schemas.openxmlformats.org/officeDocument/2006/relationships/slide" Target="/ppt/slides/slide25.xml" Id="Rea594749be39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26a6353edf41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b34c3a9f34844" /><Relationship Type="http://schemas.openxmlformats.org/officeDocument/2006/relationships/notesMaster" Target="/ppt/notesMasters/notesMaster1.xml" Id="R58ff361747f6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3f9019f6a7448b" /><Relationship Type="http://schemas.openxmlformats.org/officeDocument/2006/relationships/notesMaster" Target="/ppt/notesMasters/notesMaster1.xml" Id="Re646193e26ec4f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79257b8521488e" /><Relationship Type="http://schemas.openxmlformats.org/officeDocument/2006/relationships/notesMaster" Target="/ppt/notesMasters/notesMaster1.xml" Id="R3187fb2440ef43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b962c8d8e24107" /><Relationship Type="http://schemas.openxmlformats.org/officeDocument/2006/relationships/notesMaster" Target="/ppt/notesMasters/notesMaster1.xml" Id="Rbca6b3a5e31f4a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3cc8dd5fc45b3" /><Relationship Type="http://schemas.openxmlformats.org/officeDocument/2006/relationships/notesMaster" Target="/ppt/notesMasters/notesMaster1.xml" Id="R44cd27cc0bd34d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fe957a39b64551" /><Relationship Type="http://schemas.openxmlformats.org/officeDocument/2006/relationships/notesMaster" Target="/ppt/notesMasters/notesMaster1.xml" Id="R4068009b758541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c7d00f3c2444ea" /><Relationship Type="http://schemas.openxmlformats.org/officeDocument/2006/relationships/notesMaster" Target="/ppt/notesMasters/notesMaster1.xml" Id="Ra0dedde1153e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5a9587aca44f2d" /><Relationship Type="http://schemas.openxmlformats.org/officeDocument/2006/relationships/notesMaster" Target="/ppt/notesMasters/notesMaster1.xml" Id="Re9939e00f5094f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7363d3d1df43d5" /><Relationship Type="http://schemas.openxmlformats.org/officeDocument/2006/relationships/notesMaster" Target="/ppt/notesMasters/notesMaster1.xml" Id="R779a09f6550743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9b86723af94157" /><Relationship Type="http://schemas.openxmlformats.org/officeDocument/2006/relationships/notesMaster" Target="/ppt/notesMasters/notesMaster1.xml" Id="R04cba5ff44e143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d1548422754b55" /><Relationship Type="http://schemas.openxmlformats.org/officeDocument/2006/relationships/notesMaster" Target="/ppt/notesMasters/notesMaster1.xml" Id="Rb8587dd420a842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bc2b46b76d451b" /><Relationship Type="http://schemas.openxmlformats.org/officeDocument/2006/relationships/notesMaster" Target="/ppt/notesMasters/notesMaster1.xml" Id="R5ac889bcbdb741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80b760d3744630" /><Relationship Type="http://schemas.openxmlformats.org/officeDocument/2006/relationships/notesMaster" Target="/ppt/notesMasters/notesMaster1.xml" Id="Ra95306a2870c4d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a7055a073e4913" /><Relationship Type="http://schemas.openxmlformats.org/officeDocument/2006/relationships/notesMaster" Target="/ppt/notesMasters/notesMaster1.xml" Id="R35142ae22b2145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2eeb7baeaa477e" /><Relationship Type="http://schemas.openxmlformats.org/officeDocument/2006/relationships/notesMaster" Target="/ppt/notesMasters/notesMaster1.xml" Id="Rbfb445d011a34f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694d6e7e614b54" /><Relationship Type="http://schemas.openxmlformats.org/officeDocument/2006/relationships/notesMaster" Target="/ppt/notesMasters/notesMaster1.xml" Id="R9b2454aa22664f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0048a84e3e430b" /><Relationship Type="http://schemas.openxmlformats.org/officeDocument/2006/relationships/notesMaster" Target="/ppt/notesMasters/notesMaster1.xml" Id="R25c6d3548fe747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733340da9147cd" /><Relationship Type="http://schemas.openxmlformats.org/officeDocument/2006/relationships/notesMaster" Target="/ppt/notesMasters/notesMaster1.xml" Id="R53d77c3fa68740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f7bd4f0d3d486a" /><Relationship Type="http://schemas.openxmlformats.org/officeDocument/2006/relationships/notesMaster" Target="/ppt/notesMasters/notesMaster1.xml" Id="Rfaf835f83be241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17f92d25db4e1a" /><Relationship Type="http://schemas.openxmlformats.org/officeDocument/2006/relationships/notesMaster" Target="/ppt/notesMasters/notesMaster1.xml" Id="Rd52a00e98b2c4b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b4dea1f8ae439a" /><Relationship Type="http://schemas.openxmlformats.org/officeDocument/2006/relationships/notesMaster" Target="/ppt/notesMasters/notesMaster1.xml" Id="R39155a478b8c49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4d752538bfe4442" /><Relationship Type="http://schemas.openxmlformats.org/officeDocument/2006/relationships/notesMaster" Target="/ppt/notesMasters/notesMaster1.xml" Id="R9149e185cb4b41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7c66e05dbd14df8" /><Relationship Type="http://schemas.openxmlformats.org/officeDocument/2006/relationships/notesMaster" Target="/ppt/notesMasters/notesMaster1.xml" Id="R40d573bdb5f246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663354d5a34152" /><Relationship Type="http://schemas.openxmlformats.org/officeDocument/2006/relationships/notesMaster" Target="/ppt/notesMasters/notesMaster1.xml" Id="R5b42146b118244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dbdde667764b08" /><Relationship Type="http://schemas.openxmlformats.org/officeDocument/2006/relationships/notesMaster" Target="/ppt/notesMasters/notesMaster1.xml" Id="R89dcaa5fa9f140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chat/views.py, chat/models.py, src/pettriage/app/routes/ask.py, chat/templates/chat/room.html.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Django chat views/models, FastAPI ask route, and deployment Nginx routing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13553f10247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cbc06804143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259783f2c4c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d73f360c34d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b08929c0743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3635a8e7747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8d2f72bfd42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b83c7753c49c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ffa918a7a141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9abfe77e047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368e78b7c43db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FD10AFD-FF57-446C-888E-C232AE260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38C6DB2-CE8A-47DF-9A94-36AA3EC247BC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0284A87-FACA-4319-9DD4-517CECF27E5C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0ADDB4F-AD93-4A8F-A1DD-ACF5AFD2BE2B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132A8752-754A-4CD0-AF58-E9D3DAB2458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9D90161-8D09-408C-BADD-2E9D519D7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F7103D3-84E4-472B-8197-720BAF12773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40612BF-A613-49C7-B077-A7204F16F130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0EEE42B-8AFA-407E-8BAE-952B7BB892B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F68455A-68A6-4CC2-BFBC-331BBB6A6514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3174F77F-F143-4E70-BA78-51C094D713F8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AE761B4-2572-4C88-883F-CC8871E3D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912E3D5-38B8-4190-9D09-E8785D43DB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3D96846-A5B4-4A64-B171-8DE6C6004D19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2884FD86-AD16-4A22-A708-BB05303663BB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E6F40AE-F970-41D5-8226-7C6C1852B208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C5B0F65A-5F02-431D-B161-3F45A20C4C2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CAC2A91-D5B6-4FD9-BF84-DA83B245D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847E427-6069-4BAA-A73F-A4584764D65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C414EA2-8548-4B34-9798-645B29CF47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B5802C6-723E-4CC6-AA4D-8726B8D2CD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605DFAE-ACE0-4FE8-8F01-8AF89F40CC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4B42A5CD-2E58-4F42-86B2-E97230D5BEC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3E46E25-EAD2-4E29-BA5B-C94812CFA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1" u="none" cap="al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AC9FE33-E4E4-4341-9D9D-EA09A849E36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chemeClr val="dk1">
                  <a:tint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478E73A-A031-48BA-8732-AD2E2EE1BCCE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5E53338-98A5-4FF8-9373-B7D5D23E7672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DB137C5-2BEA-4969-8C5B-675BB6E26D68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2E48DA42-7D68-46F5-B9F5-ABA1ACF9A1E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7CF9011-6A23-4808-9240-4DCBED4A5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FAB90D4-242D-43BF-85F2-B861E5DF8AE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124CD0F-C52C-4236-9F15-410ADB2C5C5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52A60AF-E52F-4441-AAD3-24553AC98802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939DDDB-ED8C-4C8D-8DCF-F5F444D33DF1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33ABBBC-ADB0-41C5-840F-AE27968A4601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589068D4-593B-4AEC-951A-70F6E4A7AFD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7FA2E00-1EB3-46E0-93B6-3B874430F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5F30D43-F425-46BC-8311-014BBFB13C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97C8BC4-CC41-4C25-8A0B-3F5CAF75F02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4F70932-4042-4869-A6D2-46778E8BF46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17F0EE5-586F-410A-98F3-E8CC1ACDC57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DDED507B-A80D-4982-B63E-88408A16769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13894C29-5003-4568-83F6-1D20EDD3500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D48D533A-7DC4-42CF-AF7A-CA7A535DBD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0146F73E-A794-4654-B9F3-51DF7CF6999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EB7E21E-F31D-4169-BA36-48E88A409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4572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99CCDE2-01A2-4D4B-8F34-1AD91EE164FB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741D44-E38D-4DBE-BD1D-81411904A07C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40DF2D3-5E20-4F6F-9B3D-4303B997FAC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AA12C255-DA75-4B12-929D-73B6DD5DD67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468738A-8F21-4A12-95B2-E0D13A978F7E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1025982-F2AF-4239-9ECE-B4A290EFA8D2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5162BB0-8E0C-4B8D-918C-5922F2B3A99D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ADCCC6A5-F5B7-4E0B-BEC9-EF2342C6FD7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1842E9E-106D-4BE5-97AC-58B67B084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 defTabSz="457200"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457200"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제목 텍스트의 서식을 편집하려면 클릭하십시오</a:t>
            </a: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C1D73BC-6538-4B54-B70C-8D6FA907921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개요 텍스트의 서식을 편집하려면 클릭하십시오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</a:t>
            </a: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</a:t>
            </a: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</a:t>
            </a: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</a:t>
            </a: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C3665E3-37E8-4DC4-A7B8-309A8F6C9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943A852-DBFB-4377-9F59-648F0DCE507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7E04320-F15F-4E35-9A48-C8A146BAB8E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69EC613-7CB3-443B-A4EE-AA123303EF1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D9C22E06-D32C-4555-BA62-2F645C5DFC97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837F8D46-B672-4B15-B34D-85F6F58A678D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03855250-E0DD-477D-8EC4-80796A6F655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698EABE-D165-4806-AB16-A15C37DBD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14ECEFF-2B10-4172-82D5-422794A044B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개요 텍스트의 서식을 편집하려면 클릭하십시오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</a:t>
            </a: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</a:t>
            </a: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</a:t>
            </a: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</a:t>
            </a: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번째 개요 수준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EC2E7AB-1863-4941-B3F0-754D42B6FDB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C3232ED-FFE7-4323-8548-08B8DB33E59E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4572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&lt;날짜/시간&gt;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C448DA6-F2AC-4BB5-B11C-34CE5796A45E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&lt;바닥글&gt;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D3B220BB-AF40-4231-A66C-E3B4CE508729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fld id="{849DCF1E-2C98-4A1C-BB87-B638175B511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&lt;숫자&gt;</a:t>
            </a:fld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0b826312b4dc3" /><Relationship Type="http://schemas.openxmlformats.org/officeDocument/2006/relationships/slideLayout" Target="/ppt/slideLayouts/slideLayout1.xml" Id="R60a5185e55e4494a" /><Relationship Type="http://schemas.openxmlformats.org/officeDocument/2006/relationships/slideLayout" Target="/ppt/slideLayouts/slideLayout2.xml" Id="R6a6520c95c0b4cd4" /><Relationship Type="http://schemas.openxmlformats.org/officeDocument/2006/relationships/slideLayout" Target="/ppt/slideLayouts/slideLayout3.xml" Id="R35cf29fc04b2429a" /><Relationship Type="http://schemas.openxmlformats.org/officeDocument/2006/relationships/slideLayout" Target="/ppt/slideLayouts/slideLayout4.xml" Id="R44cf8310dabb4e64" /><Relationship Type="http://schemas.openxmlformats.org/officeDocument/2006/relationships/slideLayout" Target="/ppt/slideLayouts/slideLayout5.xml" Id="Rf691a510e8a74c8f" /><Relationship Type="http://schemas.openxmlformats.org/officeDocument/2006/relationships/slideLayout" Target="/ppt/slideLayouts/slideLayout6.xml" Id="R39f8c0c4c8d14484" /><Relationship Type="http://schemas.openxmlformats.org/officeDocument/2006/relationships/slideLayout" Target="/ppt/slideLayouts/slideLayout7.xml" Id="R6d55bc728ad247cb" /><Relationship Type="http://schemas.openxmlformats.org/officeDocument/2006/relationships/slideLayout" Target="/ppt/slideLayouts/slideLayout8.xml" Id="Rb18b68cf3fbb4ce1" /><Relationship Type="http://schemas.openxmlformats.org/officeDocument/2006/relationships/slideLayout" Target="/ppt/slideLayouts/slideLayout9.xml" Id="R433b5604098c4cb3" /><Relationship Type="http://schemas.openxmlformats.org/officeDocument/2006/relationships/slideLayout" Target="/ppt/slideLayouts/slideLayout10.xml" Id="R532b183f0c3a4892" /><Relationship Type="http://schemas.openxmlformats.org/officeDocument/2006/relationships/slideLayout" Target="/ppt/slideLayouts/slideLayout11.xml" Id="R87c2503dfff547c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a5185e55e4494a"/>
    <p:sldLayoutId xmlns:r="http://schemas.openxmlformats.org/officeDocument/2006/relationships" id="2147483650" r:id="R6a6520c95c0b4cd4"/>
    <p:sldLayoutId xmlns:r="http://schemas.openxmlformats.org/officeDocument/2006/relationships" id="2147483651" r:id="R35cf29fc04b2429a"/>
    <p:sldLayoutId xmlns:r="http://schemas.openxmlformats.org/officeDocument/2006/relationships" id="2147483652" r:id="R44cf8310dabb4e64"/>
    <p:sldLayoutId xmlns:r="http://schemas.openxmlformats.org/officeDocument/2006/relationships" id="2147483653" r:id="Rf691a510e8a74c8f"/>
    <p:sldLayoutId xmlns:r="http://schemas.openxmlformats.org/officeDocument/2006/relationships" id="2147483654" r:id="R39f8c0c4c8d14484"/>
    <p:sldLayoutId xmlns:r="http://schemas.openxmlformats.org/officeDocument/2006/relationships" id="2147483655" r:id="R6d55bc728ad247cb"/>
    <p:sldLayoutId xmlns:r="http://schemas.openxmlformats.org/officeDocument/2006/relationships" id="2147483656" r:id="Rb18b68cf3fbb4ce1"/>
    <p:sldLayoutId xmlns:r="http://schemas.openxmlformats.org/officeDocument/2006/relationships" id="2147483657" r:id="R433b5604098c4cb3"/>
    <p:sldLayoutId xmlns:r="http://schemas.openxmlformats.org/officeDocument/2006/relationships" id="2147483658" r:id="R532b183f0c3a4892"/>
    <p:sldLayoutId xmlns:r="http://schemas.openxmlformats.org/officeDocument/2006/relationships" id="2147483659" r:id="R87c2503dfff547ca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1f52013087247e0" /><Relationship Type="http://schemas.openxmlformats.org/officeDocument/2006/relationships/notesSlide" Target="/ppt/notesSlides/notesSlide1.xml" Id="R0c72897fc7254a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8214960af624281" /><Relationship Type="http://schemas.openxmlformats.org/officeDocument/2006/relationships/notesSlide" Target="/ppt/notesSlides/notesSlide2.xml" Id="Rbd712a6a33cc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0a3170300084c0b" /><Relationship Type="http://schemas.openxmlformats.org/officeDocument/2006/relationships/notesSlide" Target="/ppt/notesSlides/notesSlide3.xml" Id="R064697148c3748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438c218a25d4a9f" /><Relationship Type="http://schemas.openxmlformats.org/officeDocument/2006/relationships/notesSlide" Target="/ppt/notesSlides/notesSlide4.xml" Id="Rf9c8f6fc4c5e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2b93b5338ed4c2a" /><Relationship Type="http://schemas.openxmlformats.org/officeDocument/2006/relationships/notesSlide" Target="/ppt/notesSlides/notesSlide5.xml" Id="R11f5e5be077d45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a40e08b76b04331" /><Relationship Type="http://schemas.openxmlformats.org/officeDocument/2006/relationships/notesSlide" Target="/ppt/notesSlides/notesSlide6.xml" Id="R351cebc9bb5d43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15201b8fc344500" /><Relationship Type="http://schemas.openxmlformats.org/officeDocument/2006/relationships/notesSlide" Target="/ppt/notesSlides/notesSlide7.xml" Id="R40552211c6eb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21356513f7e4b5c" /><Relationship Type="http://schemas.openxmlformats.org/officeDocument/2006/relationships/notesSlide" Target="/ppt/notesSlides/notesSlide8.xml" Id="R5602ae64945344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0336b8a291f4734" /><Relationship Type="http://schemas.openxmlformats.org/officeDocument/2006/relationships/notesSlide" Target="/ppt/notesSlides/notesSlide9.xml" Id="R4aadd9390fad4b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77c6159baa84210" /><Relationship Type="http://schemas.openxmlformats.org/officeDocument/2006/relationships/notesSlide" Target="/ppt/notesSlides/notesSlide10.xml" Id="R81b9a5b0c07f4f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28609114d324bc1" /><Relationship Type="http://schemas.openxmlformats.org/officeDocument/2006/relationships/notesSlide" Target="/ppt/notesSlides/notesSlide11.xml" Id="Ra3f4e552d32e44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da1103562c14c6c" /><Relationship Type="http://schemas.openxmlformats.org/officeDocument/2006/relationships/notesSlide" Target="/ppt/notesSlides/notesSlide12.xml" Id="R53c7343bc83e45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27497a80c7a4758" /><Relationship Type="http://schemas.openxmlformats.org/officeDocument/2006/relationships/notesSlide" Target="/ppt/notesSlides/notesSlide13.xml" Id="R1f911d8c5fa944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97bc34c3e6b442c" /><Relationship Type="http://schemas.openxmlformats.org/officeDocument/2006/relationships/notesSlide" Target="/ppt/notesSlides/notesSlide14.xml" Id="R91736394463547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b0b6db2cfb545d9" /><Relationship Type="http://schemas.openxmlformats.org/officeDocument/2006/relationships/notesSlide" Target="/ppt/notesSlides/notesSlide15.xml" Id="R3d79407835454a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21a8b78933743d8" /><Relationship Type="http://schemas.openxmlformats.org/officeDocument/2006/relationships/notesSlide" Target="/ppt/notesSlides/notesSlide16.xml" Id="Rac89b8a4c84c43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66b7f5510614e4a" /><Relationship Type="http://schemas.openxmlformats.org/officeDocument/2006/relationships/notesSlide" Target="/ppt/notesSlides/notesSlide17.xml" Id="R0495e6c293c146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5f8f00e6e1b47cc" /><Relationship Type="http://schemas.openxmlformats.org/officeDocument/2006/relationships/notesSlide" Target="/ppt/notesSlides/notesSlide18.xml" Id="Rcc54928bcf5b4a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ba9397af5cb42a5" /><Relationship Type="http://schemas.openxmlformats.org/officeDocument/2006/relationships/notesSlide" Target="/ppt/notesSlides/notesSlide19.xml" Id="R1e4e586d2a6044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e10a62be8aa46d9" /><Relationship Type="http://schemas.openxmlformats.org/officeDocument/2006/relationships/notesSlide" Target="/ppt/notesSlides/notesSlide20.xml" Id="Rbf6a97d4568d48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ad76771aef544d7" /><Relationship Type="http://schemas.openxmlformats.org/officeDocument/2006/relationships/notesSlide" Target="/ppt/notesSlides/notesSlide21.xml" Id="Rc0832c8a6f8f4b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efe323398214044" /><Relationship Type="http://schemas.openxmlformats.org/officeDocument/2006/relationships/notesSlide" Target="/ppt/notesSlides/notesSlide22.xml" Id="R4e22fc573a6a4a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d82b7ea0ee64807" /><Relationship Type="http://schemas.openxmlformats.org/officeDocument/2006/relationships/notesSlide" Target="/ppt/notesSlides/notesSlide23.xml" Id="Rd48003bfb78c42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803bbece0d64ed7" /><Relationship Type="http://schemas.openxmlformats.org/officeDocument/2006/relationships/notesSlide" Target="/ppt/notesSlides/notesSlide24.xml" Id="R3cfb54e57da94e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5664fc9759b4985" /><Relationship Type="http://schemas.openxmlformats.org/officeDocument/2006/relationships/notesSlide" Target="/ppt/notesSlides/notesSlide25.xml" Id="R681fcf61b21b40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AE50C9-35D7-46A7-96EF-2176629B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A84667C-B26E-4F13-B2CF-15A266BD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TextBox 3">
            <a:extLst xmlns:a="http://schemas.openxmlformats.org/drawingml/2006/main">
              <a:ext uri="{FF2B5EF4-FFF2-40B4-BE49-F238E27FC236}">
                <a16:creationId xmlns:a16="http://schemas.microsoft.com/office/drawing/2014/main" id="{E870E9F5-99B0-4720-9054-7F3D24F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9143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SKN 4</a:t>
            </a:r>
            <a:r>
              <a:rPr sz="14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차 단위 프로젝트 </a:t>
            </a:r>
            <a:r>
              <a:rPr sz="14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4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팀 </a:t>
            </a:r>
            <a:r>
              <a:rPr sz="14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SAVE THE PET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4" name="TextBox 4">
            <a:extLst xmlns:a="http://schemas.openxmlformats.org/drawingml/2006/main">
              <a:ext uri="{FF2B5EF4-FFF2-40B4-BE49-F238E27FC236}">
                <a16:creationId xmlns:a16="http://schemas.microsoft.com/office/drawing/2014/main" id="{8838764A-D12A-418C-8EBD-DC32AAF8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10515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25000"/>
              </a:lnSpc>
              <a:buNone/>
            </a:pPr>
            <a:r>
              <a:rPr sz="34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34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 </a:t>
            </a:r>
            <a:r>
              <a:rPr sz="34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34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고도화</a:t>
            </a:r>
            <a:endParaRPr sz="3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25000"/>
              </a:lnSpc>
              <a:buNone/>
            </a:pPr>
            <a:r>
              <a:rPr sz="34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&amp; AWS </a:t>
            </a:r>
            <a:r>
              <a:rPr sz="34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  <a:endParaRPr sz="3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5" name="TextBox 5">
            <a:extLst xmlns:a="http://schemas.openxmlformats.org/drawingml/2006/main">
              <a:ext uri="{FF2B5EF4-FFF2-40B4-BE49-F238E27FC236}">
                <a16:creationId xmlns:a16="http://schemas.microsoft.com/office/drawing/2014/main" id="{CCF88182-C3BD-42DC-A3C1-4CBAE2F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336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13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3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펫 프로필 → 다이어리 이관 → 기능 고도화 → </a:t>
            </a:r>
            <a:r>
              <a:rPr sz="13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13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배포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6" name="TextBox 6">
            <a:extLst xmlns:a="http://schemas.openxmlformats.org/drawingml/2006/main">
              <a:ext uri="{FF2B5EF4-FFF2-40B4-BE49-F238E27FC236}">
                <a16:creationId xmlns:a16="http://schemas.microsoft.com/office/drawing/2014/main" id="{CCBFDB34-3F7E-4A09-9181-F91886E7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26480"/>
            <a:ext cx="10058040" cy="35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오한빈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권소라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이서은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이근준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249173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D7FAEE1-98CE-42D2-B15D-942B8381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7AB781B-251E-4B0F-9D01-B688F7D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TextBox 4">
            <a:extLst xmlns:a="http://schemas.openxmlformats.org/drawingml/2006/main">
              <a:ext uri="{FF2B5EF4-FFF2-40B4-BE49-F238E27FC236}">
                <a16:creationId xmlns:a16="http://schemas.microsoft.com/office/drawing/2014/main" id="{138B5C69-07A6-48A5-8EF2-97C57F8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AGENDA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0" name="TextBox 5">
            <a:extLst xmlns:a="http://schemas.openxmlformats.org/drawingml/2006/main">
              <a:ext uri="{FF2B5EF4-FFF2-40B4-BE49-F238E27FC236}">
                <a16:creationId xmlns:a16="http://schemas.microsoft.com/office/drawing/2014/main" id="{65340537-8E87-4AB5-9814-2BCFAF32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발표 순서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1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B85EC90-43C6-4790-9388-CF9A7969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72440" cy="10054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F768C8-D982-4CDE-9803-B99FDC40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639720" cy="639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0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3" name="TextBox 8">
            <a:extLst xmlns:a="http://schemas.openxmlformats.org/drawingml/2006/main">
              <a:ext uri="{FF2B5EF4-FFF2-40B4-BE49-F238E27FC236}">
                <a16:creationId xmlns:a16="http://schemas.microsoft.com/office/drawing/2014/main" id="{AE2B59F5-6684-407F-8ADD-A3C8DF39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790640"/>
            <a:ext cx="9600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펫 프로필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4" name="TextBox 9">
            <a:extLst xmlns:a="http://schemas.openxmlformats.org/drawingml/2006/main">
              <a:ext uri="{FF2B5EF4-FFF2-40B4-BE49-F238E27FC236}">
                <a16:creationId xmlns:a16="http://schemas.microsoft.com/office/drawing/2014/main" id="{750D3943-3F94-40A2-B629-3D729587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179440"/>
            <a:ext cx="9600840" cy="2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이관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MySQL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스키마 설계 — 권소라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5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974182-6EAB-439C-AF9F-C62C830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10972440" cy="10054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2D17CB-325C-4C6E-93DD-E14C5932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639720" cy="639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0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7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651739-7DA1-4059-A497-11D734FE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933640"/>
            <a:ext cx="9600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다이어리 </a:t>
            </a: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이관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8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1B4AF9-B4D5-420F-8BF3-12DF22EE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322440"/>
            <a:ext cx="9600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왜 전부 옮기지 않았나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무엇을 옮겼나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경계를 가로지른 라우트 하나 — 이서은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9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CE3F9DC-1960-40DB-91ED-B617F4DC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0972440" cy="10054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6408AC-2B4A-415C-9F99-7C90AFD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14800"/>
            <a:ext cx="639720" cy="639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0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1" name="TextBox 16">
            <a:extLst xmlns:a="http://schemas.openxmlformats.org/drawingml/2006/main">
              <a:ext uri="{FF2B5EF4-FFF2-40B4-BE49-F238E27FC236}">
                <a16:creationId xmlns:a16="http://schemas.microsoft.com/office/drawing/2014/main" id="{A78FACE4-A3C3-4A96-AE1B-EB0E1A6F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076640"/>
            <a:ext cx="9600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기능 고도화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2" name="TextBox 17">
            <a:extLst xmlns:a="http://schemas.openxmlformats.org/drawingml/2006/main">
              <a:ext uri="{FF2B5EF4-FFF2-40B4-BE49-F238E27FC236}">
                <a16:creationId xmlns:a16="http://schemas.microsoft.com/office/drawing/2014/main" id="{A1C6939D-25AE-45CE-A6CE-E12C889C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465440"/>
            <a:ext cx="9600840" cy="2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체중 급변 알림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연속 기록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스트릭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) · </a:t>
            </a: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표기 변형 대응 —  이서은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3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8980E11-C655-4E7A-AD3B-10A6DED9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972440" cy="10054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A49FAF3-59E1-44AA-B9E0-AA9CEB33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639720" cy="6397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0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5" name="TextBox 20">
            <a:extLst xmlns:a="http://schemas.openxmlformats.org/drawingml/2006/main">
              <a:ext uri="{FF2B5EF4-FFF2-40B4-BE49-F238E27FC236}">
                <a16:creationId xmlns:a16="http://schemas.microsoft.com/office/drawing/2014/main" id="{E112FE78-B0EA-42E6-B0AA-0C02DDC1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219640"/>
            <a:ext cx="9600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AI 채팅 · AWS 배포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6" name="TextBox 21">
            <a:extLst xmlns:a="http://schemas.openxmlformats.org/drawingml/2006/main">
              <a:ext uri="{FF2B5EF4-FFF2-40B4-BE49-F238E27FC236}">
                <a16:creationId xmlns:a16="http://schemas.microsoft.com/office/drawing/2014/main" id="{6CC3E69B-1DBF-420F-9F97-E51299D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608440"/>
            <a:ext cx="9600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Django·FastAPI 구조와 AWS HTTPS 운영 구성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7" name="TextBox 22">
            <a:extLst xmlns:a="http://schemas.openxmlformats.org/drawingml/2006/main">
              <a:ext uri="{FF2B5EF4-FFF2-40B4-BE49-F238E27FC236}">
                <a16:creationId xmlns:a16="http://schemas.microsoft.com/office/drawing/2014/main" id="{065A82C2-EB61-43B7-897C-3D87E617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SKN 4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차 단위 프로젝트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팀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SAVE THE PET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8" name="TextBox 23">
            <a:extLst xmlns:a="http://schemas.openxmlformats.org/drawingml/2006/main">
              <a:ext uri="{FF2B5EF4-FFF2-40B4-BE49-F238E27FC236}">
                <a16:creationId xmlns:a16="http://schemas.microsoft.com/office/drawing/2014/main" id="{A555CC2D-D99A-4056-B2B9-5700278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918287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3438D0-AD23-4EA5-8DE8-465ED0C8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C40CD0-CFD9-4C9A-AD2F-2E50231C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TextBox 4">
            <a:extLst xmlns:a="http://schemas.openxmlformats.org/drawingml/2006/main">
              <a:ext uri="{FF2B5EF4-FFF2-40B4-BE49-F238E27FC236}">
                <a16:creationId xmlns:a16="http://schemas.microsoft.com/office/drawing/2014/main" id="{F9FEFA51-083A-455A-AAF5-29FA6EF2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9143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PART 01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2" name="TextBox 5">
            <a:extLst xmlns:a="http://schemas.openxmlformats.org/drawingml/2006/main">
              <a:ext uri="{FF2B5EF4-FFF2-40B4-BE49-F238E27FC236}">
                <a16:creationId xmlns:a16="http://schemas.microsoft.com/office/drawing/2014/main" id="{EE6963BD-1CAD-4599-BFF2-542A649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100580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펫 프로필</a:t>
            </a:r>
            <a:endParaRPr sz="3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3" name="TextBox 6">
            <a:extLst xmlns:a="http://schemas.openxmlformats.org/drawingml/2006/main">
              <a:ext uri="{FF2B5EF4-FFF2-40B4-BE49-F238E27FC236}">
                <a16:creationId xmlns:a16="http://schemas.microsoft.com/office/drawing/2014/main" id="{418FB858-3115-4B82-B636-89CEDA0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6240"/>
            <a:ext cx="10058040" cy="29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0" u="none">
                <a:solidFill>
                  <a:srgbClr val="C9D6C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400" b="0" u="none">
                <a:solidFill>
                  <a:srgbClr val="C9D6C6"/>
                </a:solidFill>
                <a:latin typeface="맑은 고딕"/>
                <a:ea typeface="맑은 고딕"/>
                <a:cs typeface="맑은 고딕"/>
              </a:rPr>
              <a:t>이관 </a:t>
            </a:r>
            <a:r>
              <a:rPr sz="1400" b="0" u="none">
                <a:solidFill>
                  <a:srgbClr val="C9D6C6"/>
                </a:solidFill>
                <a:latin typeface="맑은 고딕"/>
                <a:ea typeface="맑은 고딕"/>
                <a:cs typeface="맑은 고딕"/>
              </a:rPr>
              <a:t>· MySQL </a:t>
            </a:r>
            <a:r>
              <a:rPr sz="1400" b="0" u="none">
                <a:solidFill>
                  <a:srgbClr val="C9D6C6"/>
                </a:solidFill>
                <a:latin typeface="맑은 고딕"/>
                <a:ea typeface="맑은 고딕"/>
                <a:cs typeface="맑은 고딕"/>
              </a:rPr>
              <a:t>스키마 설계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4" name="TextBox 7">
            <a:extLst xmlns:a="http://schemas.openxmlformats.org/drawingml/2006/main">
              <a:ext uri="{FF2B5EF4-FFF2-40B4-BE49-F238E27FC236}">
                <a16:creationId xmlns:a16="http://schemas.microsoft.com/office/drawing/2014/main" id="{F278353B-7BF6-4DE2-81DA-97B8792D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펫 프로필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권소라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5" name="TextBox 8">
            <a:extLst xmlns:a="http://schemas.openxmlformats.org/drawingml/2006/main">
              <a:ext uri="{FF2B5EF4-FFF2-40B4-BE49-F238E27FC236}">
                <a16:creationId xmlns:a16="http://schemas.microsoft.com/office/drawing/2014/main" id="{00D97D83-2FF1-42E9-84F5-1B1DF2E5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561608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767F6E-61FE-4509-87D8-A05E4608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026F50-8659-405D-98CB-94A83029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TextBox 4">
            <a:extLst xmlns:a="http://schemas.openxmlformats.org/drawingml/2006/main">
              <a:ext uri="{FF2B5EF4-FFF2-40B4-BE49-F238E27FC236}">
                <a16:creationId xmlns:a16="http://schemas.microsoft.com/office/drawing/2014/main" id="{6BE02396-8B96-404F-9E1C-E00E7F17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01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이관 배경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9" name="TextBox 5">
            <a:extLst xmlns:a="http://schemas.openxmlformats.org/drawingml/2006/main">
              <a:ext uri="{FF2B5EF4-FFF2-40B4-BE49-F238E27FC236}">
                <a16:creationId xmlns:a16="http://schemas.microsoft.com/office/drawing/2014/main" id="{005E574B-E36B-44AD-BDD1-95A69DF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인증과 프로필 저장을 어디에 둘 것인가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0" name="TextBox 6">
            <a:extLst xmlns:a="http://schemas.openxmlformats.org/drawingml/2006/main">
              <a:ext uri="{FF2B5EF4-FFF2-40B4-BE49-F238E27FC236}">
                <a16:creationId xmlns:a16="http://schemas.microsoft.com/office/drawing/2014/main" id="{2F830523-2C75-45B1-BC95-CDC57429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차의 계정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API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FastAPI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자체 라우터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(JWT + bcrypt)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였다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 4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차 요구사항이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기반 백엔드이므로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화면과 인증을 어느 쪽에 둘지부터 정해야 했다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4C9E97-26B4-44AB-A707-7A6B1D26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10972440" cy="12340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E4D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TextBox 8">
            <a:extLst xmlns:a="http://schemas.openxmlformats.org/drawingml/2006/main">
              <a:ext uri="{FF2B5EF4-FFF2-40B4-BE49-F238E27FC236}">
                <a16:creationId xmlns:a16="http://schemas.microsoft.com/office/drawing/2014/main" id="{F55C8D12-6151-4CA0-8E8A-22F7543A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73116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4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⚠</a:t>
            </a:r>
            <a:endParaRPr sz="2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3" name="TextBox 9">
            <a:extLst xmlns:a="http://schemas.openxmlformats.org/drawingml/2006/main">
              <a:ext uri="{FF2B5EF4-FFF2-40B4-BE49-F238E27FC236}">
                <a16:creationId xmlns:a16="http://schemas.microsoft.com/office/drawing/2014/main" id="{11BF73EA-38E6-4717-8756-5319F2F0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14600"/>
            <a:ext cx="97837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JWT</a:t>
            </a:r>
            <a:r>
              <a:rPr sz="14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를 화면 계층까지 끌고 가면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4" name="TextBox 10">
            <a:extLst xmlns:a="http://schemas.openxmlformats.org/drawingml/2006/main">
              <a:ext uri="{FF2B5EF4-FFF2-40B4-BE49-F238E27FC236}">
                <a16:creationId xmlns:a16="http://schemas.microsoft.com/office/drawing/2014/main" id="{9228D27D-4F12-42BD-AC70-FEF1F3A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07720"/>
            <a:ext cx="97837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토큰 보관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만료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갱신을 프론트가 떠안고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Django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의 세션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·CSRF 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보호와 따로 논다 — 방어가 두 벌이 되면 어느 쪽도 믿기 어렵다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5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A7DAB2D-8832-41AE-B1B9-1EA04106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10972440" cy="12340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TextBox 12">
            <a:extLst xmlns:a="http://schemas.openxmlformats.org/drawingml/2006/main">
              <a:ext uri="{FF2B5EF4-FFF2-40B4-BE49-F238E27FC236}">
                <a16:creationId xmlns:a16="http://schemas.microsoft.com/office/drawing/2014/main" id="{50015045-4AE2-40B5-ACD3-92924A5E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73116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4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🔑</a:t>
            </a:r>
            <a:endParaRPr sz="2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7" name="TextBox 13">
            <a:extLst xmlns:a="http://schemas.openxmlformats.org/drawingml/2006/main">
              <a:ext uri="{FF2B5EF4-FFF2-40B4-BE49-F238E27FC236}">
                <a16:creationId xmlns:a16="http://schemas.microsoft.com/office/drawing/2014/main" id="{BCBCE74C-1DD0-48B4-A684-0C23E9A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31920"/>
            <a:ext cx="97837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기본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User +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세션 인증을 쓰면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TextBox 14">
            <a:extLst xmlns:a="http://schemas.openxmlformats.org/drawingml/2006/main">
              <a:ext uri="{FF2B5EF4-FFF2-40B4-BE49-F238E27FC236}">
                <a16:creationId xmlns:a16="http://schemas.microsoft.com/office/drawing/2014/main" id="{97E1AFE3-F17A-4616-BF5E-76352427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25040"/>
            <a:ext cx="97837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PBKDF2 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비밀번호 해싱 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세션 만료 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CSRF </a:t>
            </a:r>
            <a:r>
              <a:rPr sz="12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토큰이 프레임워크에 이미 있다 — 검증된 구현을 그대로 쓴다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9" name="TextBox 15">
            <a:extLst xmlns:a="http://schemas.openxmlformats.org/drawingml/2006/main">
              <a:ext uri="{FF2B5EF4-FFF2-40B4-BE49-F238E27FC236}">
                <a16:creationId xmlns:a16="http://schemas.microsoft.com/office/drawing/2014/main" id="{69449E5E-BDED-47A4-ACA2-D3CDB774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09724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→ 화면 경로의 인증은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세션으로 확정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스키마 소유자도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Django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다 </a:t>
            </a: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(D-104)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0" name="TextBox 16">
            <a:extLst xmlns:a="http://schemas.openxmlformats.org/drawingml/2006/main">
              <a:ext uri="{FF2B5EF4-FFF2-40B4-BE49-F238E27FC236}">
                <a16:creationId xmlns:a16="http://schemas.microsoft.com/office/drawing/2014/main" id="{45D809D7-4515-453E-A6D4-1D49398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15000"/>
            <a:ext cx="109724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※ FastAPI</a:t>
            </a:r>
            <a:r>
              <a:rPr sz="11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sz="11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/api/auth/* (JWT + bcrypt)</a:t>
            </a:r>
            <a:r>
              <a:rPr sz="11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는 폐기가 아니라 병행 구현으로 남아 있다 — 정리 여부는 </a:t>
            </a:r>
            <a:r>
              <a:rPr sz="11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7b </a:t>
            </a:r>
            <a:r>
              <a:rPr sz="11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단계 과제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1" name="TextBox 17">
            <a:extLst xmlns:a="http://schemas.openxmlformats.org/drawingml/2006/main">
              <a:ext uri="{FF2B5EF4-FFF2-40B4-BE49-F238E27FC236}">
                <a16:creationId xmlns:a16="http://schemas.microsoft.com/office/drawing/2014/main" id="{6F967033-FE8B-4E14-B052-30A68E8D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펫 프로필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권소라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2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B90EB1-B6F8-4E4D-B7B0-0166636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165301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5BAB69-65F6-42EE-80CC-EDAD4B85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291E29-F2D4-447D-8560-3FB67B4F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7AC59E-B092-49D3-B757-FE37405C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01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데이터 모델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6" name="TextBox 5">
            <a:extLst xmlns:a="http://schemas.openxmlformats.org/drawingml/2006/main">
              <a:ext uri="{FF2B5EF4-FFF2-40B4-BE49-F238E27FC236}">
                <a16:creationId xmlns:a16="http://schemas.microsoft.com/office/drawing/2014/main" id="{B81FA2D6-4AD0-493F-BE47-D24A9B40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MySQL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 만든 테이블과 컬럼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7" name="TextBox 6">
            <a:extLst xmlns:a="http://schemas.openxmlformats.org/drawingml/2006/main">
              <a:ext uri="{FF2B5EF4-FFF2-40B4-BE49-F238E27FC236}">
                <a16:creationId xmlns:a16="http://schemas.microsoft.com/office/drawing/2014/main" id="{25280318-F37B-44A6-8635-5D63B1F0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1960"/>
            <a:ext cx="10698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운영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DB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MySQL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인스턴스 하나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(pettriage).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펫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다이어리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세션이 모두 같은 곳에 들어간다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58BB529-6784-4EAD-8240-1CF48073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9656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테이블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863A6F-56DB-4D1F-B35E-68742464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011680"/>
            <a:ext cx="452592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컬럼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67D7B4-C078-446D-9DED-B13AA27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11680"/>
            <a:ext cx="4480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비고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387AAED-47C4-44E6-A416-A82F2561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196560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auth_user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D0068EC-BD8D-481D-AC38-9857AE21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468880"/>
            <a:ext cx="452592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id · username · password · is_active · date_joined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0ED8D60-0A34-4110-9156-7431754D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68880"/>
            <a:ext cx="448020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기본 제공 — 직접 만들지 않는다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. password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PBKDF2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해시 문자열로 저장되고 평문은 남지 않는다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2819E29-3E07-4C77-8384-0AC3C7F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1965600" cy="1188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pets_pet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1EB372-D948-49DC-A286-425556D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91840"/>
            <a:ext cx="4525920" cy="1188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pet_id CHAR(32) PK · user_id FK → auth_user · name · species · size · age · gender · weight · intro · notes · photo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C933AFD-3259-4AE9-ADA6-59E537E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91840"/>
            <a:ext cx="4480200" cy="1188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신설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. 0001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에서 최초 생성 →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0002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에서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size · age · gender · intro · notes · photo 6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개 컬럼 추가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7DEB273-BA88-49D2-89A5-6D2E200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django_session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03499EF-9BB6-4EC0-9F51-3D1DA6AA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480560"/>
            <a:ext cx="452592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session_key PK · session_data · expire_date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9357AEE-4357-4595-892C-A394598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480560"/>
            <a:ext cx="44802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화면 경로의 세션 인증 저장소 — 로그인 상태는 여기에만 있다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2E244E-AFB1-45C3-9F50-78EF11B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09724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운영은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MySQL,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개발 기본값은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SQLite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파일 하나 — 같은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모델이 양쪽을 덮는다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스키마 소유자는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다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(D-104).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직접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DDL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을 쓰지 않고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makemigrations → migrate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로만 반영하므로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변경 이력이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django_migrations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에 남아 팀원이 같은 스키마를 재현한다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F61F0A0-278A-4B73-A522-BA57C99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펫 프로필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권소라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4E4665-2247-4087-8756-F7830AAF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569328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364D22-A867-46EA-B5C7-A8B72E84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4C5FB9-1A2D-42D1-96EC-ACF03824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4DC799-536D-4549-8412-91837029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01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실제 작업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6" name="TextBox 5">
            <a:extLst xmlns:a="http://schemas.openxmlformats.org/drawingml/2006/main">
              <a:ext uri="{FF2B5EF4-FFF2-40B4-BE49-F238E27FC236}">
                <a16:creationId xmlns:a16="http://schemas.microsoft.com/office/drawing/2014/main" id="{89531CA8-799E-48E5-98A5-6F181B6F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내가 계정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펫 도메인에서 만든 것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7BF5A17-3147-4069-8D4C-3ED52849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742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6BD2B7-9D76-4988-BDA6-F6B48EEC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37360"/>
            <a:ext cx="155412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E853B3E-5BBF-41FE-B677-6B28A3AA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737360"/>
            <a:ext cx="6674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내용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0CD1153-FDC6-48BE-8BEC-4B02A0F4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27428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회원가입 </a:t>
            </a: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로그인 </a:t>
            </a: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로그아웃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2CD4667-36A9-4209-B693-B8A443FA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94560"/>
            <a:ext cx="155412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accounts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39E4163-2E7F-47D4-B17F-118BB9ED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194560"/>
            <a:ext cx="66747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기본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User +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세션 인증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아이디 중복 확인과 비밀번호 확인 검증을 뷰에서 처리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841C8E8-C62E-408C-AF5C-8ED8CB2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7428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펫 프로필 </a:t>
            </a: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CRUD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71B70EC-B462-480C-A4BD-C8D49E2E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926080"/>
            <a:ext cx="155412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pets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BEBF90-0382-4EA4-ACC1-FFCFCAF0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926080"/>
            <a:ext cx="66747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등록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조회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수정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삭제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사진 업로드와 사진만 개별 삭제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(AJAX)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까지 지원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2437B7F-AD4F-4116-A841-FB9C3636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7428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화면 이식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EF7EBA5-8F95-4AFE-B85B-21A1D2D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657600"/>
            <a:ext cx="155412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accounts · pets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9AECDB2-D6F6-4934-B25C-EAD5DD2F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57600"/>
            <a:ext cx="66747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01-login.html · 02-profile.html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템플릿으로 이식 — 디자인 무변경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프레임워크만 교체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DBFEF76-2428-4682-8A49-9F87E7C6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27428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활성 펫 유지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6A6BEB5-25DC-40C1-9B6C-ED2512C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389120"/>
            <a:ext cx="155412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세션 연계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A2BD156-3767-4490-8094-19BD3AC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389120"/>
            <a:ext cx="66747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선택한 펫을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session[active_pet_id]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에 저장 — 모든 화면의 사이드바가 같은 펫을 가리킨다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0B5D754-7B1D-4AFA-AEA2-2FDDF994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09724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소유자 확인은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pet_id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하나가 아니라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(pet_id, user)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로 한다 — 주소창에 남의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pet_id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를 넣어도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404.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업로드 사진은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privacy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관문을 지나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EXIF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를 제거하고 재인코딩한 뒤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media/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에 저장한다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(D-43). DB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에는 경로만 남는다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4E15F8D-3A2D-4DFA-A8C0-6E0502AE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펫 프로필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권소라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C3AE8FD-5A31-4B3F-910D-2C24BA1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188429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39A652-2F35-4FAD-9ED2-07858413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7438F6-AD8D-4CE2-BA96-309EA9BB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TextBox 4">
            <a:extLst xmlns:a="http://schemas.openxmlformats.org/drawingml/2006/main">
              <a:ext uri="{FF2B5EF4-FFF2-40B4-BE49-F238E27FC236}">
                <a16:creationId xmlns:a16="http://schemas.microsoft.com/office/drawing/2014/main" id="{7122D1E8-52C8-41AC-9D53-AD67E078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01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정리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8" name="TextBox 5">
            <a:extLst xmlns:a="http://schemas.openxmlformats.org/drawingml/2006/main">
              <a:ext uri="{FF2B5EF4-FFF2-40B4-BE49-F238E27FC236}">
                <a16:creationId xmlns:a16="http://schemas.microsoft.com/office/drawing/2014/main" id="{D693ACCC-B0B2-4F64-BE17-480AED1B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 전후 비교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9445239-1A26-473F-9817-6FD82F2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201132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EC28723-25CD-4A5C-9EC0-B313C2F4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691640"/>
            <a:ext cx="4480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 전 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(3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1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F0EB2D8-44C6-4B2E-AC7A-04506FB3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691640"/>
            <a:ext cx="4480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 후 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(4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2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B96D0-B84F-4557-86D2-E714E6B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201132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인증 방식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3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17FC600-925A-4502-BD4F-CFE1CAB6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14884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FastAPI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라우터의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JWT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토큰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4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18CF149-8489-4A6C-8232-B4B6E51B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4884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화면 경로는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세션 —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sessionid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쿠키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B2FAC95-6495-4D62-976D-FBB4E378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70120"/>
            <a:ext cx="201132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비밀번호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06E3B22-0F68-4417-8B37-AFE232AF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67012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bcrypt (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자체 라우터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7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755B6C8-2F94-47A3-9A08-10680421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7012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기본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PBKDF2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해셔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8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2938D5D-1073-4AC6-823A-2849775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91400"/>
            <a:ext cx="201132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계정 저장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9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DC83121-8292-41A8-B69A-D5303339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19140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SQLAlchemy User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모델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90DC35B-D833-4A78-9166-03B43F4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19140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MySQL auth_user —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스키마 소유자는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(D-104)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1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D5B40CB-460B-413E-917F-B97411A0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12320"/>
            <a:ext cx="201132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펫 프로필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2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9F19FC5-A5E5-44AF-A901-B1D47FDF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71232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이름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종 중심의 최소 필드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3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D1F393C-1FD2-49EA-B351-4C34BDA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1232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개 필드 추가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(0002) +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사진 업로드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개별 삭제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4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54728FB-98DE-48B9-A7CE-BA75F050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33600"/>
            <a:ext cx="201132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화면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5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36BF05B-9263-469E-BD07-1FFC2FF2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23360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정적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HTML (01-login · 02-profile)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58A699A-7077-4011-A22F-94A22A58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23360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템플릿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+ CSRF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토큰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7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3991ADE-FEAD-4CA4-A0BB-E4B1AA0A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201132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권한 격리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EE26783-2B10-41AB-9FA5-6A625F3C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75488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pet_id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만 확인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9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AE06DED-B7E5-4022-A9C2-9805C418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754880"/>
            <a:ext cx="4480200" cy="520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(pet_id, user)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동시 확인 — 남의 프로필은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404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0" name="TextBox 27">
            <a:extLst xmlns:a="http://schemas.openxmlformats.org/drawingml/2006/main">
              <a:ext uri="{FF2B5EF4-FFF2-40B4-BE49-F238E27FC236}">
                <a16:creationId xmlns:a16="http://schemas.microsoft.com/office/drawing/2014/main" id="{DBD6C3BD-CAB6-4349-B47B-86D963B8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04760"/>
            <a:ext cx="10972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얻은 것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인증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해싱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CSRF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를 프레임워크의 검증된 구현에 위임하고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스키마 변경 이력을 마이그레이션으로 남겼다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남은 것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: FastAPI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자체 인증 라우터와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SQLAlchemy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모델이 병행 존치 — 정리 여부는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7b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단계 과제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(D-104)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1" name="TextBox 28">
            <a:extLst xmlns:a="http://schemas.openxmlformats.org/drawingml/2006/main">
              <a:ext uri="{FF2B5EF4-FFF2-40B4-BE49-F238E27FC236}">
                <a16:creationId xmlns:a16="http://schemas.microsoft.com/office/drawing/2014/main" id="{AD70AD80-39C5-4C6B-B140-43712DB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펫 프로필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권소라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2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33DFF1-0A91-471B-962F-E8D4B075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51633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58772F-E922-4171-86DC-ECB31181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BC2EBD-649D-470D-9F3C-11EA391A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TextBox 3">
            <a:extLst xmlns:a="http://schemas.openxmlformats.org/drawingml/2006/main">
              <a:ext uri="{FF2B5EF4-FFF2-40B4-BE49-F238E27FC236}">
                <a16:creationId xmlns:a16="http://schemas.microsoft.com/office/drawing/2014/main" id="{8F3C7F15-6290-4E24-A12A-BBC9F990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9143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PART 02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6" name="TextBox 4">
            <a:extLst xmlns:a="http://schemas.openxmlformats.org/drawingml/2006/main">
              <a:ext uri="{FF2B5EF4-FFF2-40B4-BE49-F238E27FC236}">
                <a16:creationId xmlns:a16="http://schemas.microsoft.com/office/drawing/2014/main" id="{8BAA7F27-1254-401C-9C40-AE523F42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100580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다이어리 </a:t>
            </a: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</a:t>
            </a:r>
            <a:endParaRPr sz="3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7" name="TextBox 5">
            <a:extLst xmlns:a="http://schemas.openxmlformats.org/drawingml/2006/main">
              <a:ext uri="{FF2B5EF4-FFF2-40B4-BE49-F238E27FC236}">
                <a16:creationId xmlns:a16="http://schemas.microsoft.com/office/drawing/2014/main" id="{F6A0FC99-2146-4BAC-8788-B5CED837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8" name="TextBox 6">
            <a:extLst xmlns:a="http://schemas.openxmlformats.org/drawingml/2006/main">
              <a:ext uri="{FF2B5EF4-FFF2-40B4-BE49-F238E27FC236}">
                <a16:creationId xmlns:a16="http://schemas.microsoft.com/office/drawing/2014/main" id="{D0C8D0DF-80F6-4341-9689-FA2C4577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486117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93C9B3-612D-464F-BD93-2F23C31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20BB90-DC52-4624-975F-05F27F65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TextBox 3">
            <a:extLst xmlns:a="http://schemas.openxmlformats.org/drawingml/2006/main">
              <a:ext uri="{FF2B5EF4-FFF2-40B4-BE49-F238E27FC236}">
                <a16:creationId xmlns:a16="http://schemas.microsoft.com/office/drawing/2014/main" id="{BD7DE49E-642D-4680-AB82-C951E612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02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이관 배경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2" name="TextBox 4">
            <a:extLst xmlns:a="http://schemas.openxmlformats.org/drawingml/2006/main">
              <a:ext uri="{FF2B5EF4-FFF2-40B4-BE49-F238E27FC236}">
                <a16:creationId xmlns:a16="http://schemas.microsoft.com/office/drawing/2014/main" id="{0F632B0B-4FC1-43EF-925A-4CA7ABF5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판정 파이프라인 전부를 옮기지 않았나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3" name="TextBox 5">
            <a:extLst xmlns:a="http://schemas.openxmlformats.org/drawingml/2006/main">
              <a:ext uri="{FF2B5EF4-FFF2-40B4-BE49-F238E27FC236}">
                <a16:creationId xmlns:a16="http://schemas.microsoft.com/office/drawing/2014/main" id="{DAA55515-C0DF-401B-8B37-A6C753A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차 요구사항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= "Django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기반 백엔드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 —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하지만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차까지 쌓은 판정 파이프라인을 그대로 손번역하면 두 가지 위험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4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3296715-5566-4F4D-9494-C66C89C9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10972440" cy="12340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4D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TextBox 7">
            <a:extLst xmlns:a="http://schemas.openxmlformats.org/drawingml/2006/main">
              <a:ext uri="{FF2B5EF4-FFF2-40B4-BE49-F238E27FC236}">
                <a16:creationId xmlns:a16="http://schemas.microsoft.com/office/drawing/2014/main" id="{486C4515-375D-4F83-8970-6A2232A7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73116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8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⚠</a:t>
            </a:r>
            <a:endParaRPr sz="2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6" name="TextBox 8">
            <a:extLst xmlns:a="http://schemas.openxmlformats.org/drawingml/2006/main">
              <a:ext uri="{FF2B5EF4-FFF2-40B4-BE49-F238E27FC236}">
                <a16:creationId xmlns:a16="http://schemas.microsoft.com/office/drawing/2014/main" id="{B884B4B2-B004-43C0-B850-C94048A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0280"/>
            <a:ext cx="97837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40KB </a:t>
            </a:r>
            <a:r>
              <a:rPr sz="15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판정 응답 스키마</a:t>
            </a:r>
            <a:r>
              <a:rPr sz="15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(contracts.py)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7" name="TextBox 9">
            <a:extLst xmlns:a="http://schemas.openxmlformats.org/drawingml/2006/main">
              <a:ext uri="{FF2B5EF4-FFF2-40B4-BE49-F238E27FC236}">
                <a16:creationId xmlns:a16="http://schemas.microsoft.com/office/drawing/2014/main" id="{7C409ED9-4455-469B-B960-9720E4DC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33400"/>
            <a:ext cx="97837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25000"/>
              </a:lnSpc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DRF Serializer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로 옮기다 안전 불변식 하나만 빠져도 서버는 멀쩡히 돈다 — 조용히 등급만 잘못 나가는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테스트로도 못 잡는 실패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8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389FA4D-7F5D-40C6-B871-5FB50C8A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10972440" cy="12340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4D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TextBox 11">
            <a:extLst xmlns:a="http://schemas.openxmlformats.org/drawingml/2006/main">
              <a:ext uri="{FF2B5EF4-FFF2-40B4-BE49-F238E27FC236}">
                <a16:creationId xmlns:a16="http://schemas.microsoft.com/office/drawing/2014/main" id="{C50831CB-A9E3-4BDF-9627-6CFFD327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57600"/>
            <a:ext cx="73116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8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🐘</a:t>
            </a:r>
            <a:endParaRPr sz="2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0" name="TextBox 12">
            <a:extLst xmlns:a="http://schemas.openxmlformats.org/drawingml/2006/main">
              <a:ext uri="{FF2B5EF4-FFF2-40B4-BE49-F238E27FC236}">
                <a16:creationId xmlns:a16="http://schemas.microsoft.com/office/drawing/2014/main" id="{5138CCB4-13C2-4FA1-A62B-650A00D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57600"/>
            <a:ext cx="97837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임베딩 모델 약 </a:t>
            </a:r>
            <a:r>
              <a:rPr sz="15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2GB (BAAI/bge-m3)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1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6B6666-981E-4C57-BBB0-7E660460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0720"/>
            <a:ext cx="97837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25000"/>
              </a:lnSpc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Django(gunicorn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워커 여러 개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에 올리면 워커 수만큼 메모리에 복제됨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2" name="TextBox 14">
            <a:extLst xmlns:a="http://schemas.openxmlformats.org/drawingml/2006/main">
              <a:ext uri="{FF2B5EF4-FFF2-40B4-BE49-F238E27FC236}">
                <a16:creationId xmlns:a16="http://schemas.microsoft.com/office/drawing/2014/main" id="{4EEB4A00-38DA-4443-8FEF-BD413A44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74920"/>
            <a:ext cx="109724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→ D-99: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배달 계층을 둘로 나눈다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3" name="TextBox 15">
            <a:extLst xmlns:a="http://schemas.openxmlformats.org/drawingml/2006/main">
              <a:ext uri="{FF2B5EF4-FFF2-40B4-BE49-F238E27FC236}">
                <a16:creationId xmlns:a16="http://schemas.microsoft.com/office/drawing/2014/main" id="{5A6BD07E-7B81-4852-9A85-14EACB58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4" name="TextBox 16">
            <a:extLst xmlns:a="http://schemas.openxmlformats.org/drawingml/2006/main">
              <a:ext uri="{FF2B5EF4-FFF2-40B4-BE49-F238E27FC236}">
                <a16:creationId xmlns:a16="http://schemas.microsoft.com/office/drawing/2014/main" id="{43AC53C3-34C1-4348-B81C-F6EDA8C1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1223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5291FD-1C53-4FA1-9F6E-230AD513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A0939B-CC01-4795-BC04-2AD038E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TextBox 3">
            <a:extLst xmlns:a="http://schemas.openxmlformats.org/drawingml/2006/main">
              <a:ext uri="{FF2B5EF4-FFF2-40B4-BE49-F238E27FC236}">
                <a16:creationId xmlns:a16="http://schemas.microsoft.com/office/drawing/2014/main" id="{00926F40-FFC9-4883-9B6F-FFE6EE46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02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이관 배경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8" name="TextBox 4">
            <a:extLst xmlns:a="http://schemas.openxmlformats.org/drawingml/2006/main">
              <a:ext uri="{FF2B5EF4-FFF2-40B4-BE49-F238E27FC236}">
                <a16:creationId xmlns:a16="http://schemas.microsoft.com/office/drawing/2014/main" id="{77D893F3-F167-4D3E-9A16-0C911198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D-99 —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배달 계층 분리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9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088B147-097E-4D3F-B978-B4BB4727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4845960" cy="3291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 w="19050">
            <a:solidFill>
              <a:srgbClr val="4F6B4A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TextBox 6">
            <a:extLst xmlns:a="http://schemas.openxmlformats.org/drawingml/2006/main">
              <a:ext uri="{FF2B5EF4-FFF2-40B4-BE49-F238E27FC236}">
                <a16:creationId xmlns:a16="http://schemas.microsoft.com/office/drawing/2014/main" id="{21C39D5F-7A93-430B-B314-D59512BD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011680"/>
            <a:ext cx="42973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Django  (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유일한 공개 진입점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1" name="TextBox 7">
            <a:extLst xmlns:a="http://schemas.openxmlformats.org/drawingml/2006/main">
              <a:ext uri="{FF2B5EF4-FFF2-40B4-BE49-F238E27FC236}">
                <a16:creationId xmlns:a16="http://schemas.microsoft.com/office/drawing/2014/main" id="{D06052D5-1BC4-43A3-ABD6-F2AC6E33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60320"/>
            <a:ext cx="4297320" cy="237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40000"/>
              </a:lnSpc>
              <a:spcAft>
                <a:spcPts val="799"/>
              </a:spcAft>
              <a:buNone/>
            </a:pP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인증 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세션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3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spcAft>
                <a:spcPts val="799"/>
              </a:spcAft>
              <a:buNone/>
            </a:pP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화면 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템플릿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3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spcAft>
                <a:spcPts val="799"/>
              </a:spcAft>
              <a:buNone/>
            </a:pP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계정 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펫 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endParaRPr sz="13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spcAft>
                <a:spcPts val="799"/>
              </a:spcAft>
              <a:buNone/>
            </a:pP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관리자</a:t>
            </a:r>
            <a:endParaRPr sz="13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07DCC6B-2CB0-4A14-8E74-73CEA4C7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4845960" cy="3291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EEDA"/>
          </a:solidFill>
          <a:ln xmlns:a="http://schemas.openxmlformats.org/drawingml/2006/main" w="19050">
            <a:solidFill>
              <a:srgbClr val="D89B3D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TextBox 9">
            <a:extLst xmlns:a="http://schemas.openxmlformats.org/drawingml/2006/main">
              <a:ext uri="{FF2B5EF4-FFF2-40B4-BE49-F238E27FC236}">
                <a16:creationId xmlns:a16="http://schemas.microsoft.com/office/drawing/2014/main" id="{B7944E0C-30B7-4DF3-9931-4CD8AEB1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011680"/>
            <a:ext cx="42973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FastAPI  (</a:t>
            </a:r>
            <a:r>
              <a:rPr sz="15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내부 전용</a:t>
            </a:r>
            <a:r>
              <a:rPr sz="15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비공개</a:t>
            </a:r>
            <a:r>
              <a:rPr sz="15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4" name="TextBox 10">
            <a:extLst xmlns:a="http://schemas.openxmlformats.org/drawingml/2006/main">
              <a:ext uri="{FF2B5EF4-FFF2-40B4-BE49-F238E27FC236}">
                <a16:creationId xmlns:a16="http://schemas.microsoft.com/office/drawing/2014/main" id="{17DDDE2A-7B4A-422E-AC07-BD183AE9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560320"/>
            <a:ext cx="4297320" cy="237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40000"/>
              </a:lnSpc>
              <a:spcAft>
                <a:spcPts val="799"/>
              </a:spcAft>
              <a:buNone/>
            </a:pP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판정 파이프라인</a:t>
            </a:r>
            <a:endParaRPr sz="13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spcAft>
                <a:spcPts val="799"/>
              </a:spcAft>
              <a:buNone/>
            </a:pP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contracts.py · engine.py · report.py</a:t>
            </a:r>
            <a:endParaRPr sz="13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spcAft>
                <a:spcPts val="799"/>
              </a:spcAft>
              <a:buNone/>
            </a:pP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임베딩 모델 </a:t>
            </a:r>
            <a:r>
              <a:rPr sz="13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(BAAI/bge-m3)</a:t>
            </a:r>
            <a:endParaRPr sz="13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29" name="Connector 11"/>
          <p:cNvCxnSpPr/>
          <p:nvPr/>
        </p:nvCxnSpPr>
        <p:spPr>
          <a:xfrm xmlns:a="http://schemas.openxmlformats.org/drawingml/2006/main">
            <a:off x="5851800" y="3474720"/>
            <a:ext cx="45792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216" name="TextBox 12">
            <a:extLst xmlns:a="http://schemas.openxmlformats.org/drawingml/2006/main">
              <a:ext uri="{FF2B5EF4-FFF2-40B4-BE49-F238E27FC236}">
                <a16:creationId xmlns:a16="http://schemas.microsoft.com/office/drawing/2014/main" id="{82D8B61F-8B60-4BF9-98BE-6CB9DD34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7180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9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내부 </a:t>
            </a:r>
            <a:r>
              <a:rPr sz="9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HTTP</a:t>
            </a:r>
            <a:endParaRPr sz="9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9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(httpx)</a:t>
            </a:r>
            <a:endParaRPr sz="9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7" name="TextBox 13">
            <a:extLst xmlns:a="http://schemas.openxmlformats.org/drawingml/2006/main">
              <a:ext uri="{FF2B5EF4-FFF2-40B4-BE49-F238E27FC236}">
                <a16:creationId xmlns:a16="http://schemas.microsoft.com/office/drawing/2014/main" id="{0DA20C4C-DC00-484F-A341-B6703958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8" name="TextBox 14">
            <a:extLst xmlns:a="http://schemas.openxmlformats.org/drawingml/2006/main">
              <a:ext uri="{FF2B5EF4-FFF2-40B4-BE49-F238E27FC236}">
                <a16:creationId xmlns:a16="http://schemas.microsoft.com/office/drawing/2014/main" id="{A9FC3513-7C0E-4621-B2B5-C7B03F0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167288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35635B-7AB2-468E-A344-84CDD61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9B6F656-E10C-4957-97AB-419AC8F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TextBox 3">
            <a:extLst xmlns:a="http://schemas.openxmlformats.org/drawingml/2006/main">
              <a:ext uri="{FF2B5EF4-FFF2-40B4-BE49-F238E27FC236}">
                <a16:creationId xmlns:a16="http://schemas.microsoft.com/office/drawing/2014/main" id="{1E4B26D8-B836-4EAD-A06E-F6AE32C1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02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실제 작업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2" name="TextBox 4">
            <a:extLst xmlns:a="http://schemas.openxmlformats.org/drawingml/2006/main">
              <a:ext uri="{FF2B5EF4-FFF2-40B4-BE49-F238E27FC236}">
                <a16:creationId xmlns:a16="http://schemas.microsoft.com/office/drawing/2014/main" id="{DBE0D47C-6333-48CC-923D-BBE6D4F9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내가 다이어리 도메인에서 옮긴 것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70CD5B-E352-4376-8DBD-F53E13B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83428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F7C801-831E-4300-81B1-1B8A1764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146268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커밋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5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E97B7E6-4D7E-4960-BF45-6A4A3C8A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737360"/>
            <a:ext cx="6674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내용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6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6C71A5-BD23-4218-BE7F-3D55BEA1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283428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웹앱 골격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2B675A6-D17B-4959-B4E9-10367676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194560"/>
            <a:ext cx="146268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2a1c508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8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35B6BFE-6D68-46EB-B68D-EE27C53B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194560"/>
            <a:ext cx="667476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pets · diary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앱 신설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POST /api/records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를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FastAPI → Django DRF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로 이관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070018-1D9C-4513-BA4C-DD181620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283428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화면 이식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0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57367BF-2FFE-4FCF-ACBF-DD9254B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17520"/>
            <a:ext cx="146268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8dde2a9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1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8D78C07-762A-41D6-9BA9-43D61761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17520"/>
            <a:ext cx="667476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diary.html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을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템플릿으로 이식 — 내용은 무변경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프레임워크만 교체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2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1E5C568-BC86-4119-AEEC-2DD38A77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283428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GET /api/report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경계 확정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구현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3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43AB3F6-EC75-4D2B-9ADD-8CB5C44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840480"/>
            <a:ext cx="146268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f2debfe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4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4F79985-9195-4487-AA79-2CE9F984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40480"/>
            <a:ext cx="6674760" cy="82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Django·FastAPI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두 계층에 걸친 유일한 라우트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다음 장에서 설명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5" name="TextBox 17">
            <a:extLst xmlns:a="http://schemas.openxmlformats.org/drawingml/2006/main">
              <a:ext uri="{FF2B5EF4-FFF2-40B4-BE49-F238E27FC236}">
                <a16:creationId xmlns:a16="http://schemas.microsoft.com/office/drawing/2014/main" id="{6150D4B3-6744-43E7-8411-201D180F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109724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5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저장 로직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(POST /api/records)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(pet, user, recorded_date)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가 같으면 갱신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없으면 신규 생성하는 기존 로직을 그대로 이관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5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소유자 확인은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pet_id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만이 아니라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(pet_id, user)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로 — 남의 기록 접근 차단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(D-52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원칙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6" name="TextBox 18">
            <a:extLst xmlns:a="http://schemas.openxmlformats.org/drawingml/2006/main">
              <a:ext uri="{FF2B5EF4-FFF2-40B4-BE49-F238E27FC236}">
                <a16:creationId xmlns:a16="http://schemas.microsoft.com/office/drawing/2014/main" id="{1D74303D-089B-48D2-ADCD-6C73ECD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7" name="TextBox 19">
            <a:extLst xmlns:a="http://schemas.openxmlformats.org/drawingml/2006/main">
              <a:ext uri="{FF2B5EF4-FFF2-40B4-BE49-F238E27FC236}">
                <a16:creationId xmlns:a16="http://schemas.microsoft.com/office/drawing/2014/main" id="{1BF0446E-2068-4BC3-8B20-6214669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032852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44A915-7257-471E-9724-DA97E8D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83301F-53D7-4082-93E0-0014370D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TextBox 3">
            <a:extLst xmlns:a="http://schemas.openxmlformats.org/drawingml/2006/main">
              <a:ext uri="{FF2B5EF4-FFF2-40B4-BE49-F238E27FC236}">
                <a16:creationId xmlns:a16="http://schemas.microsoft.com/office/drawing/2014/main" id="{EA4C7A5A-90AE-4381-B125-9470CE85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02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핵심 이슈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1" name="TextBox 4">
            <a:extLst xmlns:a="http://schemas.openxmlformats.org/drawingml/2006/main">
              <a:ext uri="{FF2B5EF4-FFF2-40B4-BE49-F238E27FC236}">
                <a16:creationId xmlns:a16="http://schemas.microsoft.com/office/drawing/2014/main" id="{171BDEEC-5814-4BAD-A14F-96F6976A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GET /api/report —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경계를 가로지르는 유일한 라우트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2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5DB61F8-F0C6-4C45-98E4-374C367B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342864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TextBox 6">
            <a:extLst xmlns:a="http://schemas.openxmlformats.org/drawingml/2006/main">
              <a:ext uri="{FF2B5EF4-FFF2-40B4-BE49-F238E27FC236}">
                <a16:creationId xmlns:a16="http://schemas.microsoft.com/office/drawing/2014/main" id="{FFD162AB-26F2-4600-86E8-B382E1EA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30628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① 소유권 확인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4" name="TextBox 7">
            <a:extLst xmlns:a="http://schemas.openxmlformats.org/drawingml/2006/main">
              <a:ext uri="{FF2B5EF4-FFF2-40B4-BE49-F238E27FC236}">
                <a16:creationId xmlns:a16="http://schemas.microsoft.com/office/drawing/2014/main" id="{2B6C1C96-7944-42EC-974A-B35602C3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7240"/>
            <a:ext cx="30628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pet = db.query(Pet)...</a:t>
            </a:r>
            <a:endParaRPr sz="9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5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F8C6535-E957-498B-A515-C4E8A2F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1188360" cy="319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0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Django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69" name="Connector 9"/>
          <p:cNvCxnSpPr/>
          <p:nvPr/>
        </p:nvCxnSpPr>
        <p:spPr>
          <a:xfrm xmlns:a="http://schemas.openxmlformats.org/drawingml/2006/main">
            <a:off x="4187880" y="2788920"/>
            <a:ext cx="31104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247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DABE352-4357-4D7A-A637-A681E1D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11680"/>
            <a:ext cx="342864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8" name="TextBox 11">
            <a:extLst xmlns:a="http://schemas.openxmlformats.org/drawingml/2006/main">
              <a:ext uri="{FF2B5EF4-FFF2-40B4-BE49-F238E27FC236}">
                <a16:creationId xmlns:a16="http://schemas.microsoft.com/office/drawing/2014/main" id="{B10525E7-A5E2-47D4-94BA-9F5921E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30628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② 기록 조회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9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B96F40-3B18-4802-B931-B47D3B2F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87240"/>
            <a:ext cx="30628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q = db.query(DiaryEntry)...</a:t>
            </a:r>
            <a:endParaRPr sz="9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0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8E369D1-A9EA-4425-BB65-0F20E0AD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54680"/>
            <a:ext cx="1188360" cy="319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0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Django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74" name="Connector 14"/>
          <p:cNvCxnSpPr/>
          <p:nvPr/>
        </p:nvCxnSpPr>
        <p:spPr>
          <a:xfrm xmlns:a="http://schemas.openxmlformats.org/drawingml/2006/main">
            <a:off x="7982640" y="2788920"/>
            <a:ext cx="31104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252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E4AB32B-698C-4C73-B3B1-D1227252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42864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EED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4E9B71-E667-466B-B55B-3F819009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48840"/>
            <a:ext cx="30628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③ 기간 요약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4" name="TextBox 17">
            <a:extLst xmlns:a="http://schemas.openxmlformats.org/drawingml/2006/main">
              <a:ext uri="{FF2B5EF4-FFF2-40B4-BE49-F238E27FC236}">
                <a16:creationId xmlns:a16="http://schemas.microsoft.com/office/drawing/2014/main" id="{1DB60181-1D9B-48E1-8C00-809EC5F5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87240"/>
            <a:ext cx="30628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summary = summarize_period(...)</a:t>
            </a:r>
            <a:endParaRPr sz="9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5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00759C1A-A492-4BD7-A932-F7A9E62F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154680"/>
            <a:ext cx="1188360" cy="319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0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FastAPI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6" name="TextBox 19">
            <a:extLst xmlns:a="http://schemas.openxmlformats.org/drawingml/2006/main">
              <a:ext uri="{FF2B5EF4-FFF2-40B4-BE49-F238E27FC236}">
                <a16:creationId xmlns:a16="http://schemas.microsoft.com/office/drawing/2014/main" id="{C44D5E19-2892-4D5C-A042-9289614B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다른 라우트는 한쪽으로 깔끔히 갈렸는데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리포트 조회만 소유권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(Django)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와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(FastAPI)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에 걸쳐 있었다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DA10321-EDB2-491B-B3D3-A290CE5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1051524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56001F-4D91-4438-8BE4-2A9280D1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17720"/>
            <a:ext cx="1005804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검토안 두 가지 —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A) Django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가 라우트를 갖고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ORM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결과를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FastAPI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내부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API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로 보내 요약만 받기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/ B) FastAPI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가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DB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를 직접 읽기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B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안은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ORM·SQLAlchemy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두 벌의 스키마가 생겨 마이그레이션이 한쪽에만 적용되는 사고로 이어질 수 있음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→ A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안 채택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(2026-08-25,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팀장 승인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).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report.py::summarize_period()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는 한 줄도 안 건드리고 그대로 재사용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9" name="TextBox 22">
            <a:extLst xmlns:a="http://schemas.openxmlformats.org/drawingml/2006/main">
              <a:ext uri="{FF2B5EF4-FFF2-40B4-BE49-F238E27FC236}">
                <a16:creationId xmlns:a16="http://schemas.microsoft.com/office/drawing/2014/main" id="{7A9AF279-5E8A-4D71-8F95-E24550A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0" name="TextBox 23">
            <a:extLst xmlns:a="http://schemas.openxmlformats.org/drawingml/2006/main">
              <a:ext uri="{FF2B5EF4-FFF2-40B4-BE49-F238E27FC236}">
                <a16:creationId xmlns:a16="http://schemas.microsoft.com/office/drawing/2014/main" id="{084722F6-C036-47EE-A660-825D1A19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291856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E23D2E-FE54-4197-A711-FADA5B2A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529DAD-C3CF-4A2C-8203-C524FED3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TextBox 3">
            <a:extLst xmlns:a="http://schemas.openxmlformats.org/drawingml/2006/main">
              <a:ext uri="{FF2B5EF4-FFF2-40B4-BE49-F238E27FC236}">
                <a16:creationId xmlns:a16="http://schemas.microsoft.com/office/drawing/2014/main" id="{8AC6318F-4228-4164-9A96-BF16A7FA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02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정리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4" name="TextBox 4">
            <a:extLst xmlns:a="http://schemas.openxmlformats.org/drawingml/2006/main">
              <a:ext uri="{FF2B5EF4-FFF2-40B4-BE49-F238E27FC236}">
                <a16:creationId xmlns:a16="http://schemas.microsoft.com/office/drawing/2014/main" id="{B234FB8F-F8A6-488B-9F3B-88EF0260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 전후 비교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CC2033-7F01-4F9F-AA66-3171D297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201132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7C1E467-B238-4D02-948A-886BA78A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691640"/>
            <a:ext cx="4480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 전 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(3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6DA9134-9727-4FA5-B640-1166414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691640"/>
            <a:ext cx="4480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이관 후 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(4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</a:t>
            </a: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87312A4-BF1B-416B-91D4-AC75B665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20113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진입점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2088AAA-B135-4BFD-95F3-90E7F29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14884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FastAPI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하나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72372A0-F1F0-4714-8D47-90E9EBBA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4884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Django(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공개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 + FastAPI(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비공개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C5D3B8E-2F30-45B5-A94D-985C8816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15840"/>
            <a:ext cx="20113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다이어리 저장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9F9CC14-0FDD-4CE0-BE07-AD0C07FF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71584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SQLAlchemy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모델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D8BB4E-E78B-4756-9CCF-A39E205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71584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ORM (DiaryEntry),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마이그레이션 관리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9FFB94-2FD6-4387-AE26-618720B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82840"/>
            <a:ext cx="20113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리포트 요약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F4B1FC6-75F9-4F79-9CC1-C3C9CB70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28284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같은 프로세스 내 함수 호출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351F5E1-D4A6-4D09-86E5-7F201F84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8284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→ FastAPI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내부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HTTP(httpx),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응답 계약은 그대로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56A4E5-383B-44BE-BDF5-25514D3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9480"/>
            <a:ext cx="20113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화면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C3FDE64-C47F-4A5C-8B7F-BC4BC8D1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84948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web/diary.html (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정적 서빙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A07187E-11A7-4FF3-8741-7C8CD112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948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템플릿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세션 인증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+ CSRF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쿠키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373E40C-2024-4BDC-8775-63EB72A9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16480"/>
            <a:ext cx="20113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배포 단위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EEBBD45-FA7E-4230-9DC1-70A9BF6D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41648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개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5217500-67F7-4008-9E6B-2F19D89C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416480"/>
            <a:ext cx="4480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개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컨테이너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개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장애 지점도 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개</a:t>
            </a:r>
            <a:r>
              <a:rPr sz="11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BE2DF0B-091F-492F-A0FE-CF788E44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972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얻은 것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판정 계약과 임베딩 모델을 한 벌로 유지하며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요구사항 충족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잃은 것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배포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장애 지점 증가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경계를 가로지르는 라우트는 별도 설계 필요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9EDE6E2-7DDF-4A70-9558-B78B4E3E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EC6D79A-5DF1-49B4-9DFB-40BA9720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3991661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17995E0-552D-49FB-9B2E-48EB3FB6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0D0070C-0946-4B7C-BB1D-9DD45831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TextBox 3">
            <a:extLst xmlns:a="http://schemas.openxmlformats.org/drawingml/2006/main">
              <a:ext uri="{FF2B5EF4-FFF2-40B4-BE49-F238E27FC236}">
                <a16:creationId xmlns:a16="http://schemas.microsoft.com/office/drawing/2014/main" id="{CD1E3B88-4EB9-4B85-95F8-0D77F56A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9143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PART 03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9" name="TextBox 4">
            <a:extLst xmlns:a="http://schemas.openxmlformats.org/drawingml/2006/main">
              <a:ext uri="{FF2B5EF4-FFF2-40B4-BE49-F238E27FC236}">
                <a16:creationId xmlns:a16="http://schemas.microsoft.com/office/drawing/2014/main" id="{5843AC55-E410-4733-BBB8-75151B70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100580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고도화</a:t>
            </a:r>
            <a:endParaRPr sz="3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0" name="TextBox 5">
            <a:extLst xmlns:a="http://schemas.openxmlformats.org/drawingml/2006/main">
              <a:ext uri="{FF2B5EF4-FFF2-40B4-BE49-F238E27FC236}">
                <a16:creationId xmlns:a16="http://schemas.microsoft.com/office/drawing/2014/main" id="{E171FD6A-7BB6-4931-9E53-210C4560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10058040" cy="33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체중 급변 알림 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연속 기록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스트릭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표기 변형 대응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1" name="TextBox 6">
            <a:extLst xmlns:a="http://schemas.openxmlformats.org/drawingml/2006/main">
              <a:ext uri="{FF2B5EF4-FFF2-40B4-BE49-F238E27FC236}">
                <a16:creationId xmlns:a16="http://schemas.microsoft.com/office/drawing/2014/main" id="{AE1B47A4-616E-4CEC-AD61-25E138E3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2" name="TextBox 7">
            <a:extLst xmlns:a="http://schemas.openxmlformats.org/drawingml/2006/main">
              <a:ext uri="{FF2B5EF4-FFF2-40B4-BE49-F238E27FC236}">
                <a16:creationId xmlns:a16="http://schemas.microsoft.com/office/drawing/2014/main" id="{11961EB0-7F72-415D-B258-CA3896EA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047179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F2BF05C-468D-4C49-8AFE-765A259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670CBE-6F12-4A60-9AE9-094915EA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" name="TextBox 3">
            <a:extLst xmlns:a="http://schemas.openxmlformats.org/drawingml/2006/main">
              <a:ext uri="{FF2B5EF4-FFF2-40B4-BE49-F238E27FC236}">
                <a16:creationId xmlns:a16="http://schemas.microsoft.com/office/drawing/2014/main" id="{74CE85A1-8105-4C89-BACD-BC3008D2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03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체중 급변 알림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6" name="TextBox 4">
            <a:extLst xmlns:a="http://schemas.openxmlformats.org/drawingml/2006/main">
              <a:ext uri="{FF2B5EF4-FFF2-40B4-BE49-F238E27FC236}">
                <a16:creationId xmlns:a16="http://schemas.microsoft.com/office/drawing/2014/main" id="{7AD2C9ED-B96E-44BE-8259-9F315854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직전 기록 대비 변화율을 우측 하단 토스트로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7" name="TextBox 5">
            <a:extLst xmlns:a="http://schemas.openxmlformats.org/drawingml/2006/main">
              <a:ext uri="{FF2B5EF4-FFF2-40B4-BE49-F238E27FC236}">
                <a16:creationId xmlns:a16="http://schemas.microsoft.com/office/drawing/2014/main" id="{8CA902A2-F604-4001-A10A-7A971F1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목적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체중이 짧은 기간에 급격히 변하면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탈수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질병 신호일 수 있음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바로 알려준다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기존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절대 체중 범위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표시와는 별개로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직전 기록 대비 변화율을 보는 새로운 신호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8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A42FDAE-3B8A-4E9A-9026-7482E2A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5120280" cy="1371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EED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TextBox 7">
            <a:extLst xmlns:a="http://schemas.openxmlformats.org/drawingml/2006/main">
              <a:ext uri="{FF2B5EF4-FFF2-40B4-BE49-F238E27FC236}">
                <a16:creationId xmlns:a16="http://schemas.microsoft.com/office/drawing/2014/main" id="{8E4C42E5-13C5-47A4-9FA2-336DA45A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60"/>
            <a:ext cx="46630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변화율 </a:t>
            </a:r>
            <a:r>
              <a:rPr sz="13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5% </a:t>
            </a:r>
            <a:r>
              <a:rPr sz="13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이상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0" name="TextBox 8">
            <a:extLst xmlns:a="http://schemas.openxmlformats.org/drawingml/2006/main">
              <a:ext uri="{FF2B5EF4-FFF2-40B4-BE49-F238E27FC236}">
                <a16:creationId xmlns:a16="http://schemas.microsoft.com/office/drawing/2014/main" id="{44123F14-965E-4220-AFBF-D30E7357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66308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● 주의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1" name="TextBox 9">
            <a:extLst xmlns:a="http://schemas.openxmlformats.org/drawingml/2006/main">
              <a:ext uri="{FF2B5EF4-FFF2-40B4-BE49-F238E27FC236}">
                <a16:creationId xmlns:a16="http://schemas.microsoft.com/office/drawing/2014/main" id="{82F568F2-2B1E-49F0-B7AF-1CA6CBA3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466308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“당분간 지켜봐 주세요” — 우측 하단 토스트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6DA65B3-26B4-4811-8DFF-2A0059E7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120280" cy="1371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4D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3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67B7E8-AE41-41CE-9AAF-9D95F85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51760"/>
            <a:ext cx="46630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변화율 </a:t>
            </a:r>
            <a:r>
              <a:rPr sz="13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10% </a:t>
            </a:r>
            <a:r>
              <a:rPr sz="13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이상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4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C87F58-CACD-4F89-9F72-0A116705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17520"/>
            <a:ext cx="466308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● 병원 방문 권장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5" name="TextBox 13">
            <a:extLst xmlns:a="http://schemas.openxmlformats.org/drawingml/2006/main">
              <a:ext uri="{FF2B5EF4-FFF2-40B4-BE49-F238E27FC236}">
                <a16:creationId xmlns:a16="http://schemas.microsoft.com/office/drawing/2014/main" id="{2C9B6082-D9EB-4520-81D4-2DE4D116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29000"/>
            <a:ext cx="466308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“수의사와 상담해보세요” — 우측 하단 토스트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6" name="TextBox 14">
            <a:extLst xmlns:a="http://schemas.openxmlformats.org/drawingml/2006/main">
              <a:ext uri="{FF2B5EF4-FFF2-40B4-BE49-F238E27FC236}">
                <a16:creationId xmlns:a16="http://schemas.microsoft.com/office/drawing/2014/main" id="{0471784D-415E-4091-982F-DF1CF909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515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성장기 동물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(1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살 미만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"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개월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표기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은 알림 대상에서 제외 — 정상적으로 하루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5~10%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씩 변하는 시기라서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7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B4F945-1508-468B-B0DA-1D8B702E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8" name="TextBox 16">
            <a:extLst xmlns:a="http://schemas.openxmlformats.org/drawingml/2006/main">
              <a:ext uri="{FF2B5EF4-FFF2-40B4-BE49-F238E27FC236}">
                <a16:creationId xmlns:a16="http://schemas.microsoft.com/office/drawing/2014/main" id="{980EE456-61B4-4E98-9455-1B784E0E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7227788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CF13BDF-E36D-4E2A-812C-02BE73E2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0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BD305B-BD73-4D68-B590-4DF4195B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1" name="TextBox 3">
            <a:extLst xmlns:a="http://schemas.openxmlformats.org/drawingml/2006/main">
              <a:ext uri="{FF2B5EF4-FFF2-40B4-BE49-F238E27FC236}">
                <a16:creationId xmlns:a16="http://schemas.microsoft.com/office/drawing/2014/main" id="{B3D36BC7-D151-4FD0-9316-B1EAE76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03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연속 기록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스트릭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2" name="TextBox 4">
            <a:extLst xmlns:a="http://schemas.openxmlformats.org/drawingml/2006/main">
              <a:ext uri="{FF2B5EF4-FFF2-40B4-BE49-F238E27FC236}">
                <a16:creationId xmlns:a16="http://schemas.microsoft.com/office/drawing/2014/main" id="{388FD7CD-BE33-478C-8307-40FFC399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49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🔥 꾸준한 기록을 유도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6CAF461-4A0F-4926-AE83-D5430B7E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5120280" cy="3291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TextBox 6">
            <a:extLst xmlns:a="http://schemas.openxmlformats.org/drawingml/2006/main">
              <a:ext uri="{FF2B5EF4-FFF2-40B4-BE49-F238E27FC236}">
                <a16:creationId xmlns:a16="http://schemas.microsoft.com/office/drawing/2014/main" id="{B869E5D8-F1C9-4CA0-BEE5-CD09F855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동작 규칙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5" name="TextBox 7">
            <a:extLst xmlns:a="http://schemas.openxmlformats.org/drawingml/2006/main">
              <a:ext uri="{FF2B5EF4-FFF2-40B4-BE49-F238E27FC236}">
                <a16:creationId xmlns:a16="http://schemas.microsoft.com/office/drawing/2014/main" id="{6D23B511-0C8B-4BC0-9DB4-AF8BA96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571640" cy="237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40000"/>
              </a:lnSpc>
              <a:spcAft>
                <a:spcPts val="1001"/>
              </a:spcAft>
              <a:buNone/>
            </a:pP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오늘 기록을 아직 안 남겼어도 어제까지 이어져 있으면 스트릭 유지 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자정까지 유예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spcAft>
                <a:spcPts val="1001"/>
              </a:spcAft>
              <a:buNone/>
            </a:pP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오늘도 어제도 기록이 없으면 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으로 끊김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spcAft>
                <a:spcPts val="1001"/>
              </a:spcAft>
              <a:buNone/>
            </a:pP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●  리포트의 기간 필터와 무관하게 항상 전체 기록 기준 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과거 기간만 조회 중에도 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오늘 기준 스트릭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은 그대로</a:t>
            </a:r>
            <a:r>
              <a:rPr sz="12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6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A4D8930-DC00-44B7-98B7-18665ADF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45920"/>
            <a:ext cx="5486040" cy="3291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 w="15875">
            <a:solidFill>
              <a:srgbClr val="4F6B4A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7" name="TextBox 9">
            <a:extLst xmlns:a="http://schemas.openxmlformats.org/drawingml/2006/main">
              <a:ext uri="{FF2B5EF4-FFF2-40B4-BE49-F238E27FC236}">
                <a16:creationId xmlns:a16="http://schemas.microsoft.com/office/drawing/2014/main" id="{8A20AD44-ABA6-497C-A177-1F754C8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0240"/>
            <a:ext cx="49374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화면 표시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8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778A3B2-6C1A-4AC8-918D-3B099DFF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1720"/>
            <a:ext cx="2377080" cy="1462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B32864-3FB7-4E4C-A262-4AA6312F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60320"/>
            <a:ext cx="237708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🔥 연속 기록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0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63EE26-2493-4EAF-9E26-FA182053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26080"/>
            <a:ext cx="23770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22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7 </a:t>
            </a:r>
            <a:r>
              <a:rPr sz="22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일째</a:t>
            </a:r>
            <a:endParaRPr sz="2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1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7EB0ED-64CB-466A-BA1D-83C0D85D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377440"/>
            <a:ext cx="2468520" cy="137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40000"/>
              </a:lnSpc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꾸준히 기록하고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있어요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정말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0000"/>
              </a:lnSpc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잘하고 있어요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2" name="TextBox 14">
            <a:extLst xmlns:a="http://schemas.openxmlformats.org/drawingml/2006/main">
              <a:ext uri="{FF2B5EF4-FFF2-40B4-BE49-F238E27FC236}">
                <a16:creationId xmlns:a16="http://schemas.microsoft.com/office/drawing/2014/main" id="{8E104106-6CD1-4B04-B178-B0405A3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23360"/>
            <a:ext cx="49374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커밋</a:t>
            </a: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: GET /api/report</a:t>
            </a: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에 </a:t>
            </a: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streak </a:t>
            </a: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필드 추가</a:t>
            </a: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(d8377e1) → </a:t>
            </a: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화면에 스트릭 카드로 표시</a:t>
            </a:r>
            <a:r>
              <a:rPr sz="10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(dcda6d5)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3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24792C-A16E-42ED-96AE-20B6D01D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다이어리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기록장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이서은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4" name="TextBox 16">
            <a:extLst xmlns:a="http://schemas.openxmlformats.org/drawingml/2006/main">
              <a:ext uri="{FF2B5EF4-FFF2-40B4-BE49-F238E27FC236}">
                <a16:creationId xmlns:a16="http://schemas.microsoft.com/office/drawing/2014/main" id="{3D5571B1-B587-4631-BECE-762DBE15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6902266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E2DD347-B9A8-46E6-9750-85E5EDB3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6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CB9729-BC42-440C-B8A2-A6499257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7" name="TextBox 4">
            <a:extLst xmlns:a="http://schemas.openxmlformats.org/drawingml/2006/main">
              <a:ext uri="{FF2B5EF4-FFF2-40B4-BE49-F238E27FC236}">
                <a16:creationId xmlns:a16="http://schemas.microsoft.com/office/drawing/2014/main" id="{1A4A4B9A-6054-4AE7-B80B-BAE2186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2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03 · </a:t>
            </a: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표기 변형 대응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8" name="TextBox 5">
            <a:extLst xmlns:a="http://schemas.openxmlformats.org/drawingml/2006/main">
              <a:ext uri="{FF2B5EF4-FFF2-40B4-BE49-F238E27FC236}">
                <a16:creationId xmlns:a16="http://schemas.microsoft.com/office/drawing/2014/main" id="{E0D9B072-8E1E-47EC-9732-EDCEC7A5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표기 하나가 다르면 안내가 끊겼다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9" name="TextBox 6">
            <a:extLst xmlns:a="http://schemas.openxmlformats.org/drawingml/2006/main">
              <a:ext uri="{FF2B5EF4-FFF2-40B4-BE49-F238E27FC236}">
                <a16:creationId xmlns:a16="http://schemas.microsoft.com/office/drawing/2014/main" id="{6BBF6F2E-E0B8-4616-8055-8A6D4BAA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1960"/>
            <a:ext cx="1069812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차 결과 보고서 「아직 못 한 것」에 이 항목이 있다 —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어휘 표에 구멍이 있다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초콜릿은 통과하는데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초코는 거절된다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별칭 표에 없어서다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."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같은 구멍이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초콜렛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에도 있었다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buNone/>
            </a:pP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가장 위험한 물질에서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표기 하나 때문에 안내가 통째로 끊긴 것이다</a:t>
            </a:r>
            <a:r>
              <a:rPr sz="12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5EA59AF-4852-41AE-976A-5B1971EB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5120280" cy="1554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E4DB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1" name="TextBox 8">
            <a:extLst xmlns:a="http://schemas.openxmlformats.org/drawingml/2006/main">
              <a:ext uri="{FF2B5EF4-FFF2-40B4-BE49-F238E27FC236}">
                <a16:creationId xmlns:a16="http://schemas.microsoft.com/office/drawing/2014/main" id="{F178883D-6659-492A-8AE5-B802EF2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88920"/>
            <a:ext cx="46630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00" b="1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고도화 전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2" name="TextBox 9">
            <a:extLst xmlns:a="http://schemas.openxmlformats.org/drawingml/2006/main">
              <a:ext uri="{FF2B5EF4-FFF2-40B4-BE49-F238E27FC236}">
                <a16:creationId xmlns:a16="http://schemas.microsoft.com/office/drawing/2014/main" id="{9CCDA5C7-0055-4B26-950F-36A16BD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154680"/>
            <a:ext cx="466308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4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초콜렛 먹었어요</a:t>
            </a:r>
            <a:r>
              <a:rPr sz="14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"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3" name="TextBox 10">
            <a:extLst xmlns:a="http://schemas.openxmlformats.org/drawingml/2006/main">
              <a:ext uri="{FF2B5EF4-FFF2-40B4-BE49-F238E27FC236}">
                <a16:creationId xmlns:a16="http://schemas.microsoft.com/office/drawing/2014/main" id="{C5C355FB-9B8A-4716-95A4-69CB7838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11880"/>
            <a:ext cx="4663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0" u="none">
                <a:solidFill>
                  <a:srgbClr val="B3542F"/>
                </a:solidFill>
                <a:latin typeface="맑은 고딕"/>
                <a:ea typeface="맑은 고딕"/>
                <a:cs typeface="맑은 고딕"/>
              </a:rPr>
              <a:t>→ 제공된 자료에서 근거를 찾을 수 없습니다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4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4AB390A-1EFF-4253-9A5C-5B4BE46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51760"/>
            <a:ext cx="5120280" cy="15541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TextBox 12">
            <a:extLst xmlns:a="http://schemas.openxmlformats.org/drawingml/2006/main">
              <a:ext uri="{FF2B5EF4-FFF2-40B4-BE49-F238E27FC236}">
                <a16:creationId xmlns:a16="http://schemas.microsoft.com/office/drawing/2014/main" id="{1D6251D5-8C0D-4F1E-9AD8-5F09FDEB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788920"/>
            <a:ext cx="46630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고도화 후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6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D94852-90A3-44A2-9028-69403E3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54680"/>
            <a:ext cx="466308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4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초콜렛 먹었어요</a:t>
            </a:r>
            <a:r>
              <a:rPr sz="140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"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7" name="TextBox 14">
            <a:extLst xmlns:a="http://schemas.openxmlformats.org/drawingml/2006/main">
              <a:ext uri="{FF2B5EF4-FFF2-40B4-BE49-F238E27FC236}">
                <a16:creationId xmlns:a16="http://schemas.microsoft.com/office/drawing/2014/main" id="{2BC6411B-7061-49A6-90BF-2E8E1BBF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611880"/>
            <a:ext cx="4663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0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→ ● 지금 연락 — 테오브로민 중독 위험</a:t>
            </a:r>
            <a:r>
              <a:rPr sz="1150" b="0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즉시 수의사와 상담하세요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8" name="TextBox 15">
            <a:extLst xmlns:a="http://schemas.openxmlformats.org/drawingml/2006/main">
              <a:ext uri="{FF2B5EF4-FFF2-40B4-BE49-F238E27FC236}">
                <a16:creationId xmlns:a16="http://schemas.microsoft.com/office/drawing/2014/main" id="{793015FD-E9BA-4E54-A421-6CB94DB3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15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45000"/>
              </a:lnSpc>
              <a:buNone/>
            </a:pP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원인 — 별칭 표에 표준 표기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초콜릿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하나뿐이라 검색이 자료를 못 찾았고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판정 자체가 거부됐다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5000"/>
              </a:lnSpc>
              <a:buNone/>
            </a:pP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해결 — 별칭 표에 표기 변형을 등록해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초콜렛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과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초콜릿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을 같은 물질로 인식시켰다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45000"/>
              </a:lnSpc>
              <a:buNone/>
            </a:pP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원칙 — 사용자의 오탈자를 사용자 탓으로 돌리지 않는다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2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급한 상황일수록 표기는 흔들린다</a:t>
            </a:r>
            <a:endParaRPr sz="12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9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2E9939-DEDF-4B1A-BBB6-8BFE8BBB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69280"/>
            <a:ext cx="10515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4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→ 검색 정확도가 아니라 안전 문제였다 — 못 찾으면 안내가 아예 나가지 않는다</a:t>
            </a:r>
            <a:endParaRPr sz="14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0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CB22C6-BC02-4BBB-B2D4-2DB42C9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계정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펫 프로필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권소라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1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3E75C7-39B7-4C98-A476-778DA9F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31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840342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5455EB-5671-453E-8BB7-2B82ACA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899F46D-588A-4A01-BE03-99CB15BB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4" name="TextBox 4">
            <a:extLst xmlns:a="http://schemas.openxmlformats.org/drawingml/2006/main">
              <a:ext uri="{FF2B5EF4-FFF2-40B4-BE49-F238E27FC236}">
                <a16:creationId xmlns:a16="http://schemas.microsoft.com/office/drawing/2014/main" id="{56B6ACE2-588D-40B1-95CA-6E6109E0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9143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PART 04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5" name="TextBox 5">
            <a:extLst xmlns:a="http://schemas.openxmlformats.org/drawingml/2006/main">
              <a:ext uri="{FF2B5EF4-FFF2-40B4-BE49-F238E27FC236}">
                <a16:creationId xmlns:a16="http://schemas.microsoft.com/office/drawing/2014/main" id="{6182AE49-BA02-486F-A864-25F7806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100580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채팅</a:t>
            </a:r>
            <a:endParaRPr sz="3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6" name="TextBox 6">
            <a:extLst xmlns:a="http://schemas.openxmlformats.org/drawingml/2006/main">
              <a:ext uri="{FF2B5EF4-FFF2-40B4-BE49-F238E27FC236}">
                <a16:creationId xmlns:a16="http://schemas.microsoft.com/office/drawing/2014/main" id="{96760020-A53E-4642-9F94-6EF6B3E7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Django · FastAPI · RAG 기반 질의 응답 구조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7" name="TextBox 7">
            <a:extLst xmlns:a="http://schemas.openxmlformats.org/drawingml/2006/main">
              <a:ext uri="{FF2B5EF4-FFF2-40B4-BE49-F238E27FC236}">
                <a16:creationId xmlns:a16="http://schemas.microsoft.com/office/drawing/2014/main" id="{348DC575-3232-4BC3-8A97-9CC08B54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AI 채팅 · Django &amp; FastAPI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8" name="TextBox 8">
            <a:extLst xmlns:a="http://schemas.openxmlformats.org/drawingml/2006/main">
              <a:ext uri="{FF2B5EF4-FFF2-40B4-BE49-F238E27FC236}">
                <a16:creationId xmlns:a16="http://schemas.microsoft.com/office/drawing/2014/main" id="{9282DB50-1704-4719-8681-35F85B93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109316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1EED36-43C0-4BD2-977E-6D5EF176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E9481C8-051B-4D56-8DCC-E661710B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1" name="TextBox 4">
            <a:extLst xmlns:a="http://schemas.openxmlformats.org/drawingml/2006/main">
              <a:ext uri="{FF2B5EF4-FFF2-40B4-BE49-F238E27FC236}">
                <a16:creationId xmlns:a16="http://schemas.microsoft.com/office/drawing/2014/main" id="{3AE1F231-B217-4BD6-B77A-86555D08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04 · AI 채팅 구조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2" name="TextBox 5">
            <a:extLst xmlns:a="http://schemas.openxmlformats.org/drawingml/2006/main">
              <a:ext uri="{FF2B5EF4-FFF2-40B4-BE49-F238E27FC236}">
                <a16:creationId xmlns:a16="http://schemas.microsoft.com/office/drawing/2014/main" id="{20AFDC18-69AA-4E19-8B2F-DB423065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Django와 FastAPI 역할 분리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3" name="TextBox 6">
            <a:extLst xmlns:a="http://schemas.openxmlformats.org/drawingml/2006/main">
              <a:ext uri="{FF2B5EF4-FFF2-40B4-BE49-F238E27FC236}">
                <a16:creationId xmlns:a16="http://schemas.microsoft.com/office/drawing/2014/main" id="{8F56519E-0BE9-414E-A830-695DCD93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Django는 화면·세션·이력을, FastAPI는 RAG·LLM 기반 응답 생성을 담당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4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D874E9B-9902-4215-ADF7-F4939DE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24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5" name="TextBox 8">
            <a:extLst xmlns:a="http://schemas.openxmlformats.org/drawingml/2006/main">
              <a:ext uri="{FF2B5EF4-FFF2-40B4-BE49-F238E27FC236}">
                <a16:creationId xmlns:a16="http://schemas.microsoft.com/office/drawing/2014/main" id="{B4556348-01C2-49CC-9618-C14190A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100580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✓  Django — 로그인 세션, 채팅 화면, 대화 이력 조회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✓  FastAPI — /api/ask, RAG 검색, LLM·Triage 응답 생성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✓  Nginx — 화면 요청과 AI 요청을 서비스별로 라우팅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6" name="TextBox 9">
            <a:extLst xmlns:a="http://schemas.openxmlformats.org/drawingml/2006/main">
              <a:ext uri="{FF2B5EF4-FFF2-40B4-BE49-F238E27FC236}">
                <a16:creationId xmlns:a16="http://schemas.microsoft.com/office/drawing/2014/main" id="{D007C7CC-86D6-4DDB-BE4E-BBE82AE3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→ 결과: 웹 서비스와 AI 추론을 분리해 역할별 운영 구조 구성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7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A42D7B-FBB8-476B-B83A-A843DDE7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AI 채팅 · Django &amp; FastAPI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8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457421-77C4-4FF3-A63A-A9CE8624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4926971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5455EB-5671-453E-8BB7-2B82ACA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899F46D-588A-4A01-BE03-99CB15BB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4" name="TextBox 4">
            <a:extLst xmlns:a="http://schemas.openxmlformats.org/drawingml/2006/main">
              <a:ext uri="{FF2B5EF4-FFF2-40B4-BE49-F238E27FC236}">
                <a16:creationId xmlns:a16="http://schemas.microsoft.com/office/drawing/2014/main" id="{56B6ACE2-588D-40B1-95CA-6E6109E0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9143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PART 05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5" name="TextBox 5">
            <a:extLst xmlns:a="http://schemas.openxmlformats.org/drawingml/2006/main">
              <a:ext uri="{FF2B5EF4-FFF2-40B4-BE49-F238E27FC236}">
                <a16:creationId xmlns:a16="http://schemas.microsoft.com/office/drawing/2014/main" id="{6182AE49-BA02-486F-A864-25F7806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100580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38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  <a:endParaRPr sz="3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6" name="TextBox 6">
            <a:extLst xmlns:a="http://schemas.openxmlformats.org/drawingml/2006/main">
              <a:ext uri="{FF2B5EF4-FFF2-40B4-BE49-F238E27FC236}">
                <a16:creationId xmlns:a16="http://schemas.microsoft.com/office/drawing/2014/main" id="{96760020-A53E-4642-9F94-6EF6B3E7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052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PetTriage · HTTPS · ALB · EC2 · Nginx </a:t>
            </a:r>
            <a:r>
              <a:rPr sz="1600" b="0" u="none">
                <a:solidFill>
                  <a:srgbClr val="D9E2D6"/>
                </a:solidFill>
                <a:latin typeface="맑은 고딕"/>
                <a:ea typeface="맑은 고딕"/>
                <a:cs typeface="맑은 고딕"/>
              </a:rPr>
              <a:t>운영 구성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7" name="TextBox 7">
            <a:extLst xmlns:a="http://schemas.openxmlformats.org/drawingml/2006/main">
              <a:ext uri="{FF2B5EF4-FFF2-40B4-BE49-F238E27FC236}">
                <a16:creationId xmlns:a16="http://schemas.microsoft.com/office/drawing/2014/main" id="{348DC575-3232-4BC3-8A97-9CC08B54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배포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이근준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8" name="TextBox 8">
            <a:extLst xmlns:a="http://schemas.openxmlformats.org/drawingml/2006/main">
              <a:ext uri="{FF2B5EF4-FFF2-40B4-BE49-F238E27FC236}">
                <a16:creationId xmlns:a16="http://schemas.microsoft.com/office/drawing/2014/main" id="{9282DB50-1704-4719-8681-35F85B93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10931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1EED36-43C0-4BD2-977E-6D5EF176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E9481C8-051B-4D56-8DCC-E661710B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1" name="TextBox 4">
            <a:extLst xmlns:a="http://schemas.openxmlformats.org/drawingml/2006/main">
              <a:ext uri="{FF2B5EF4-FFF2-40B4-BE49-F238E27FC236}">
                <a16:creationId xmlns:a16="http://schemas.microsoft.com/office/drawing/2014/main" id="{3AE1F231-B217-4BD6-B77A-86555D08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05 · 핵심 목표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2" name="TextBox 5">
            <a:extLst xmlns:a="http://schemas.openxmlformats.org/drawingml/2006/main">
              <a:ext uri="{FF2B5EF4-FFF2-40B4-BE49-F238E27FC236}">
                <a16:creationId xmlns:a16="http://schemas.microsoft.com/office/drawing/2014/main" id="{20AFDC18-69AA-4E19-8B2F-DB423065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안전한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HTTPS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접속과 지속 가능한 서비스 실행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3" name="TextBox 6">
            <a:extLst xmlns:a="http://schemas.openxmlformats.org/drawingml/2006/main">
              <a:ext uri="{FF2B5EF4-FFF2-40B4-BE49-F238E27FC236}">
                <a16:creationId xmlns:a16="http://schemas.microsoft.com/office/drawing/2014/main" id="{8F56519E-0BE9-414E-A830-695DCD93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PetTriage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서비스를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ALB · ACM · EC2 · Nginx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기반으로 배포 — 목표는 안전한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HTTPS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접속과 끊기지 않는 서비스 실행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4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D874E9B-9902-4215-ADF7-F4939DE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24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5" name="TextBox 8">
            <a:extLst xmlns:a="http://schemas.openxmlformats.org/drawingml/2006/main">
              <a:ext uri="{FF2B5EF4-FFF2-40B4-BE49-F238E27FC236}">
                <a16:creationId xmlns:a16="http://schemas.microsoft.com/office/drawing/2014/main" id="{B4556348-01C2-49CC-9618-C14190A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100580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90000" bIns="4500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✓  HTTPS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인증서 적용 —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ACM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인증서 발급 및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ALB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✓  ALB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상태 검사 정상 —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Target Group Health Check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통과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defTabSz="457200">
              <a:lnSpc>
                <a:spcPct val="130000"/>
              </a:lnSpc>
              <a:spcAft>
                <a:spcPts val="601"/>
              </a:spcAft>
              <a:buNone/>
            </a:pP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✓  재부팅 후 자동 실행 —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systemd </a:t>
            </a:r>
            <a:r>
              <a:rPr sz="11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서비스 등록으로 운영 지속성 확보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6" name="TextBox 9">
            <a:extLst xmlns:a="http://schemas.openxmlformats.org/drawingml/2006/main">
              <a:ext uri="{FF2B5EF4-FFF2-40B4-BE49-F238E27FC236}">
                <a16:creationId xmlns:a16="http://schemas.microsoft.com/office/drawing/2014/main" id="{D007C7CC-86D6-4DDB-BE4E-BBE82AE3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→ 결과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: https://pettriage.kro.kr — HTTPS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기반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PetTriage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서비스 최종 배포 완료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7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A42D7B-FBB8-476B-B83A-A843DDE7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배포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이근준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8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457421-77C4-4FF3-A63A-A9CE8624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4926971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65DAD17-A00C-43F2-AF80-AE9034A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97B8927-7FCA-45FB-AC47-4283719F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TextBox 4">
            <a:extLst xmlns:a="http://schemas.openxmlformats.org/drawingml/2006/main">
              <a:ext uri="{FF2B5EF4-FFF2-40B4-BE49-F238E27FC236}">
                <a16:creationId xmlns:a16="http://schemas.microsoft.com/office/drawing/2014/main" id="{2F502D0D-9336-4D0E-8711-21194C67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05 · ARCHITECTURE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2" name="TextBox 5">
            <a:extLst xmlns:a="http://schemas.openxmlformats.org/drawingml/2006/main">
              <a:ext uri="{FF2B5EF4-FFF2-40B4-BE49-F238E27FC236}">
                <a16:creationId xmlns:a16="http://schemas.microsoft.com/office/drawing/2014/main" id="{ADA5DCC2-D5D8-4E28-BCF2-82AE01C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HTTPS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ALB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에서 종료하고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EC2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는 애플리케이션 실행에 집중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3" name="TextBox 6">
            <a:extLst xmlns:a="http://schemas.openxmlformats.org/drawingml/2006/main">
              <a:ext uri="{FF2B5EF4-FFF2-40B4-BE49-F238E27FC236}">
                <a16:creationId xmlns:a16="http://schemas.microsoft.com/office/drawing/2014/main" id="{839726A7-AB40-4A1E-A91F-CEEC4E6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외부 공개 포트는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80·443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으로 제한하고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, Django · FastAPI · MySQL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은 내부 통신으로 분리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4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2B01E10-E179-4CE0-B8CB-46BB3DCD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24080"/>
            <a:ext cx="1599840" cy="18284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TextBox 8">
            <a:extLst xmlns:a="http://schemas.openxmlformats.org/drawingml/2006/main">
              <a:ext uri="{FF2B5EF4-FFF2-40B4-BE49-F238E27FC236}">
                <a16:creationId xmlns:a16="http://schemas.microsoft.com/office/drawing/2014/main" id="{5507E222-7041-463A-9C3D-81B73722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61240"/>
            <a:ext cx="13255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사용자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6" name="TextBox 9">
            <a:extLst xmlns:a="http://schemas.openxmlformats.org/drawingml/2006/main">
              <a:ext uri="{FF2B5EF4-FFF2-40B4-BE49-F238E27FC236}">
                <a16:creationId xmlns:a16="http://schemas.microsoft.com/office/drawing/2014/main" id="{CFA6B95A-7E43-43A6-8938-EDAE2F3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7000"/>
            <a:ext cx="13255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https://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67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B27D82-8350-478A-B3C9-02F8EBC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47040"/>
            <a:ext cx="13255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pettriage.kro.kr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98" name="Connector 11"/>
          <p:cNvCxnSpPr/>
          <p:nvPr/>
        </p:nvCxnSpPr>
        <p:spPr>
          <a:xfrm xmlns:a="http://schemas.openxmlformats.org/drawingml/2006/main">
            <a:off x="2331720" y="3138480"/>
            <a:ext cx="25020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369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8D0A32D-8C65-471A-9BB3-B5B25DAD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560" y="2224080"/>
            <a:ext cx="2559960" cy="18284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331BF3-F986-4915-A07B-B3A3E954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20" y="2361240"/>
            <a:ext cx="2285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Application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1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D94DC9-EBB8-42B8-9FC3-DEF8292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20" y="2727000"/>
            <a:ext cx="2285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Load Balancer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2" name="TextBox 15">
            <a:extLst xmlns:a="http://schemas.openxmlformats.org/drawingml/2006/main">
              <a:ext uri="{FF2B5EF4-FFF2-40B4-BE49-F238E27FC236}">
                <a16:creationId xmlns:a16="http://schemas.microsoft.com/office/drawing/2014/main" id="{98374B01-22D4-483C-8567-DD694603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20" y="3047040"/>
            <a:ext cx="2285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ACM </a:t>
            </a: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인증서 </a:t>
            </a: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443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3" name="TextBox 16">
            <a:extLst xmlns:a="http://schemas.openxmlformats.org/drawingml/2006/main">
              <a:ext uri="{FF2B5EF4-FFF2-40B4-BE49-F238E27FC236}">
                <a16:creationId xmlns:a16="http://schemas.microsoft.com/office/drawing/2014/main" id="{ED627B66-8ED9-4635-A9C2-819BB1E0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20" y="3367080"/>
            <a:ext cx="2285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HTTP → HTTPS </a:t>
            </a: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리다이렉트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404" name="Connector 17"/>
          <p:cNvCxnSpPr/>
          <p:nvPr/>
        </p:nvCxnSpPr>
        <p:spPr>
          <a:xfrm xmlns:a="http://schemas.openxmlformats.org/drawingml/2006/main">
            <a:off x="5141880" y="3138480"/>
            <a:ext cx="25020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375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EEB67D0-4BDC-41C7-AB5B-0C502667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80" y="2224080"/>
            <a:ext cx="3200040" cy="18284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EED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6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ABF828-72E4-44FC-AE81-0D642F70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40" y="236124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EC2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7" name="TextBox 20">
            <a:extLst xmlns:a="http://schemas.openxmlformats.org/drawingml/2006/main">
              <a:ext uri="{FF2B5EF4-FFF2-40B4-BE49-F238E27FC236}">
                <a16:creationId xmlns:a16="http://schemas.microsoft.com/office/drawing/2014/main" id="{D5D882C1-8628-4BB6-82A3-08E24FF4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40" y="272700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Nginx :80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8" name="TextBox 21">
            <a:extLst xmlns:a="http://schemas.openxmlformats.org/drawingml/2006/main">
              <a:ext uri="{FF2B5EF4-FFF2-40B4-BE49-F238E27FC236}">
                <a16:creationId xmlns:a16="http://schemas.microsoft.com/office/drawing/2014/main" id="{CBD37F89-E20A-49E7-B931-B10FF4B3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40" y="304704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 / Gunicorn :8000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9" name="TextBox 22">
            <a:extLst xmlns:a="http://schemas.openxmlformats.org/drawingml/2006/main">
              <a:ext uri="{FF2B5EF4-FFF2-40B4-BE49-F238E27FC236}">
                <a16:creationId xmlns:a16="http://schemas.microsoft.com/office/drawing/2014/main" id="{3DBBA770-9760-450B-BEE0-C2A015D0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40" y="336708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FastAPI / Uvicorn :8001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0" name="TextBox 23">
            <a:extLst xmlns:a="http://schemas.openxmlformats.org/drawingml/2006/main">
              <a:ext uri="{FF2B5EF4-FFF2-40B4-BE49-F238E27FC236}">
                <a16:creationId xmlns:a16="http://schemas.microsoft.com/office/drawing/2014/main" id="{5E4476AC-97E9-4406-894A-39C1E454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40" y="36871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EC2 </a:t>
            </a: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내부 설치 </a:t>
            </a: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외부 포트 비공개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411" name="Connector 24"/>
          <p:cNvCxnSpPr/>
          <p:nvPr/>
        </p:nvCxnSpPr>
        <p:spPr>
          <a:xfrm xmlns:a="http://schemas.openxmlformats.org/drawingml/2006/main">
            <a:off x="8592120" y="3138480"/>
            <a:ext cx="25056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382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F1077EFC-209F-42A8-B47A-E0A81612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280" y="2224080"/>
            <a:ext cx="1782720" cy="18284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3" name="TextBox 26">
            <a:extLst xmlns:a="http://schemas.openxmlformats.org/drawingml/2006/main">
              <a:ext uri="{FF2B5EF4-FFF2-40B4-BE49-F238E27FC236}">
                <a16:creationId xmlns:a16="http://schemas.microsoft.com/office/drawing/2014/main" id="{D08971FC-BA1E-40F5-9E6D-5147C4FD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320" y="2361240"/>
            <a:ext cx="15084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MySQL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4" name="TextBox 27">
            <a:extLst xmlns:a="http://schemas.openxmlformats.org/drawingml/2006/main">
              <a:ext uri="{FF2B5EF4-FFF2-40B4-BE49-F238E27FC236}">
                <a16:creationId xmlns:a16="http://schemas.microsoft.com/office/drawing/2014/main" id="{7BE6BC32-2247-403C-B904-3FF2F4F1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320" y="2727000"/>
            <a:ext cx="15084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내부 통신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5" name="TextBox 28">
            <a:extLst xmlns:a="http://schemas.openxmlformats.org/drawingml/2006/main">
              <a:ext uri="{FF2B5EF4-FFF2-40B4-BE49-F238E27FC236}">
                <a16:creationId xmlns:a16="http://schemas.microsoft.com/office/drawing/2014/main" id="{3C60456E-804A-48D3-B760-B7CBFC4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320" y="3047040"/>
            <a:ext cx="15084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:3306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6" name="TextBox 29">
            <a:extLst xmlns:a="http://schemas.openxmlformats.org/drawingml/2006/main">
              <a:ext uri="{FF2B5EF4-FFF2-40B4-BE49-F238E27FC236}">
                <a16:creationId xmlns:a16="http://schemas.microsoft.com/office/drawing/2014/main" id="{3E0A94CA-FE78-44AC-A42F-C2124F01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8148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공개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443 · 80  · 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내부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8000 · 8001 · 3306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7" name="TextBox 30">
            <a:extLst xmlns:a="http://schemas.openxmlformats.org/drawingml/2006/main">
              <a:ext uri="{FF2B5EF4-FFF2-40B4-BE49-F238E27FC236}">
                <a16:creationId xmlns:a16="http://schemas.microsoft.com/office/drawing/2014/main" id="{E8362C48-AE75-4E86-9659-CA49A0AB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배포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이근준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8" name="TextBox 31">
            <a:extLst xmlns:a="http://schemas.openxmlformats.org/drawingml/2006/main">
              <a:ext uri="{FF2B5EF4-FFF2-40B4-BE49-F238E27FC236}">
                <a16:creationId xmlns:a16="http://schemas.microsoft.com/office/drawing/2014/main" id="{1AC8E3F9-1F7B-47E4-BA04-8F24B00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365569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9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234F9A-B201-4A87-9D20-BC43FBD4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D28216-C3C0-4A75-97FC-24E7483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" name="TextBox 4">
            <a:extLst xmlns:a="http://schemas.openxmlformats.org/drawingml/2006/main">
              <a:ext uri="{FF2B5EF4-FFF2-40B4-BE49-F238E27FC236}">
                <a16:creationId xmlns:a16="http://schemas.microsoft.com/office/drawing/2014/main" id="{1EC82EA5-19F7-4E22-B994-6D356802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05 · HTTPS SETUP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2" name="TextBox 5">
            <a:extLst xmlns:a="http://schemas.openxmlformats.org/drawingml/2006/main">
              <a:ext uri="{FF2B5EF4-FFF2-40B4-BE49-F238E27FC236}">
                <a16:creationId xmlns:a16="http://schemas.microsoft.com/office/drawing/2014/main" id="{D00E7EC5-1E97-49F8-9C20-E6888EE6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인증서 발급부터 도메인 전환까지 순서대로 구성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3" name="TextBox 6">
            <a:extLst xmlns:a="http://schemas.openxmlformats.org/drawingml/2006/main">
              <a:ext uri="{FF2B5EF4-FFF2-40B4-BE49-F238E27FC236}">
                <a16:creationId xmlns:a16="http://schemas.microsoft.com/office/drawing/2014/main" id="{E9C4CB76-DCC4-4CDE-B688-F99ED666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ALB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가 정상 대상만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EC2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로 전달하도록 상태 검사를 통과한 뒤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DNS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를 전환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4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C27A6CC-634E-4CFB-B584-0C0A44A9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256680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5" name="TextBox 8">
            <a:extLst xmlns:a="http://schemas.openxmlformats.org/drawingml/2006/main">
              <a:ext uri="{FF2B5EF4-FFF2-40B4-BE49-F238E27FC236}">
                <a16:creationId xmlns:a16="http://schemas.microsoft.com/office/drawing/2014/main" id="{2C98850A-711F-4D51-AF66-06BFBDDB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2201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① ACM </a:t>
            </a:r>
            <a:r>
              <a:rPr sz="12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인증서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6" name="TextBox 9">
            <a:extLst xmlns:a="http://schemas.openxmlformats.org/drawingml/2006/main">
              <a:ext uri="{FF2B5EF4-FFF2-40B4-BE49-F238E27FC236}">
                <a16:creationId xmlns:a16="http://schemas.microsoft.com/office/drawing/2014/main" id="{800F6A51-3EAE-44A4-B62D-5447B5F0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604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ACM CNAME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검증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7" name="TextBox 10">
            <a:extLst xmlns:a="http://schemas.openxmlformats.org/drawingml/2006/main">
              <a:ext uri="{FF2B5EF4-FFF2-40B4-BE49-F238E27FC236}">
                <a16:creationId xmlns:a16="http://schemas.microsoft.com/office/drawing/2014/main" id="{371B2CCB-D3E7-4835-8588-E9B47233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Issued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425" name="Connector 11"/>
          <p:cNvCxnSpPr/>
          <p:nvPr/>
        </p:nvCxnSpPr>
        <p:spPr>
          <a:xfrm xmlns:a="http://schemas.openxmlformats.org/drawingml/2006/main">
            <a:off x="3298680" y="2788920"/>
            <a:ext cx="25020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399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C9B8FAB-2703-4B11-A744-DB7A84A2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520" y="2011680"/>
            <a:ext cx="256680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TextBox 13">
            <a:extLst xmlns:a="http://schemas.openxmlformats.org/drawingml/2006/main">
              <a:ext uri="{FF2B5EF4-FFF2-40B4-BE49-F238E27FC236}">
                <a16:creationId xmlns:a16="http://schemas.microsoft.com/office/drawing/2014/main" id="{F4F4DF6A-5195-4CC7-AAA0-BE65A0D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400" y="2194560"/>
            <a:ext cx="2201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② ALB · </a:t>
            </a:r>
            <a:r>
              <a:rPr sz="12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대상 그룹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1" name="TextBox 14">
            <a:extLst xmlns:a="http://schemas.openxmlformats.org/drawingml/2006/main">
              <a:ext uri="{FF2B5EF4-FFF2-40B4-BE49-F238E27FC236}">
                <a16:creationId xmlns:a16="http://schemas.microsoft.com/office/drawing/2014/main" id="{82EC8444-F11B-4189-80B8-C769CAFD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400" y="260604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HTTPS 443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2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D8C4D3-E8B9-4638-98C2-2845D5EF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400" y="292608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EC2 :80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등록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430" name="Connector 16"/>
          <p:cNvCxnSpPr/>
          <p:nvPr/>
        </p:nvCxnSpPr>
        <p:spPr>
          <a:xfrm xmlns:a="http://schemas.openxmlformats.org/drawingml/2006/main">
            <a:off x="6115680" y="2788920"/>
            <a:ext cx="25020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40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B50987F-10E9-4BB2-8E46-42EE2D7D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80" y="2011680"/>
            <a:ext cx="256680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EED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5" name="TextBox 18">
            <a:extLst xmlns:a="http://schemas.openxmlformats.org/drawingml/2006/main">
              <a:ext uri="{FF2B5EF4-FFF2-40B4-BE49-F238E27FC236}">
                <a16:creationId xmlns:a16="http://schemas.microsoft.com/office/drawing/2014/main" id="{31449381-D547-4CB7-9134-496EE4D7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760" y="2194560"/>
            <a:ext cx="2201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③ 상태 검사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6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6D3CBE-4D0F-4E24-985E-CF114675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760" y="260604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/accounts/login/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7" name="TextBox 20">
            <a:extLst xmlns:a="http://schemas.openxmlformats.org/drawingml/2006/main">
              <a:ext uri="{FF2B5EF4-FFF2-40B4-BE49-F238E27FC236}">
                <a16:creationId xmlns:a16="http://schemas.microsoft.com/office/drawing/2014/main" id="{731D74BB-8A8C-4B75-ACCA-68DD163E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760" y="292608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200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응답 확인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435" name="Connector 21"/>
          <p:cNvCxnSpPr/>
          <p:nvPr/>
        </p:nvCxnSpPr>
        <p:spPr>
          <a:xfrm xmlns:a="http://schemas.openxmlformats.org/drawingml/2006/main">
            <a:off x="8932680" y="2788920"/>
            <a:ext cx="250200" cy="360"/>
          </a:xfrm>
          <a:prstGeom xmlns:a="http://schemas.openxmlformats.org/drawingml/2006/main" prst="bentConnector2">
            <a:avLst/>
          </a:prstGeom>
          <a:ln xmlns:a="http://schemas.openxmlformats.org/drawingml/2006/main">
            <a:solidFill>
              <a:srgbClr val="A39C8C"/>
            </a:solidFill>
            <a:round/>
            <a:tailEnd type="triangle" w="med" len="med"/>
          </a:ln>
        </p:spPr>
      </p:cxnSp>
      <p:sp>
        <p:nvSpPr>
          <p:cNvPr id="409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01CDE81-6355-4116-8A7A-B3A63DD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880" y="2011680"/>
            <a:ext cx="2566800" cy="15541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EEDA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" name="TextBox 23">
            <a:extLst xmlns:a="http://schemas.openxmlformats.org/drawingml/2006/main">
              <a:ext uri="{FF2B5EF4-FFF2-40B4-BE49-F238E27FC236}">
                <a16:creationId xmlns:a16="http://schemas.microsoft.com/office/drawing/2014/main" id="{1E84D553-CDCC-44B6-A70C-CACFE92E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60" y="2194560"/>
            <a:ext cx="2201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25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④ DNS </a:t>
            </a:r>
            <a:r>
              <a:rPr sz="1250" b="1" u="none">
                <a:solidFill>
                  <a:srgbClr val="8A5C10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12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1" name="TextBox 24">
            <a:extLst xmlns:a="http://schemas.openxmlformats.org/drawingml/2006/main">
              <a:ext uri="{FF2B5EF4-FFF2-40B4-BE49-F238E27FC236}">
                <a16:creationId xmlns:a16="http://schemas.microsoft.com/office/drawing/2014/main" id="{44DB7AB5-F983-4378-9CF8-6A9E0C07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60" y="260604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레코드 제거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2" name="TextBox 25">
            <a:extLst xmlns:a="http://schemas.openxmlformats.org/drawingml/2006/main">
              <a:ext uri="{FF2B5EF4-FFF2-40B4-BE49-F238E27FC236}">
                <a16:creationId xmlns:a16="http://schemas.microsoft.com/office/drawing/2014/main" id="{FAB892F0-2D8E-44B3-9751-DA8E058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60" y="2926080"/>
            <a:ext cx="2201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ALB CNAME </a:t>
            </a:r>
            <a:r>
              <a:rPr sz="100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등록</a:t>
            </a:r>
            <a:endParaRPr sz="10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3" name="TextBox 26">
            <a:extLst xmlns:a="http://schemas.openxmlformats.org/drawingml/2006/main">
              <a:ext uri="{FF2B5EF4-FFF2-40B4-BE49-F238E27FC236}">
                <a16:creationId xmlns:a16="http://schemas.microsoft.com/office/drawing/2014/main" id="{04C48201-6AC8-482F-A6C4-5A7263A7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: ALB Target Group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상태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healthy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확인 후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https://pettriage.kro.kr </a:t>
            </a:r>
            <a:r>
              <a:rPr sz="15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서비스 오픈</a:t>
            </a:r>
            <a:endParaRPr sz="15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4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F0BCA4-12F3-4A4E-8BD9-2866E8D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배포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이근준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5" name="TextBox 28">
            <a:extLst xmlns:a="http://schemas.openxmlformats.org/drawingml/2006/main">
              <a:ext uri="{FF2B5EF4-FFF2-40B4-BE49-F238E27FC236}">
                <a16:creationId xmlns:a16="http://schemas.microsoft.com/office/drawing/2014/main" id="{8DD1926F-64D8-4764-A9D8-91EB5A53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046131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48E588-E3D0-41F4-B8E8-F6B01ADA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AB1A68-307F-49E7-98F6-9EFEDBC6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8" name="TextBox 4">
            <a:extLst xmlns:a="http://schemas.openxmlformats.org/drawingml/2006/main">
              <a:ext uri="{FF2B5EF4-FFF2-40B4-BE49-F238E27FC236}">
                <a16:creationId xmlns:a16="http://schemas.microsoft.com/office/drawing/2014/main" id="{1BD7A4FD-4BC0-40DF-B621-D8F3027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05 · TROUBLESHOOTING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9" name="TextBox 5">
            <a:extLst xmlns:a="http://schemas.openxmlformats.org/drawingml/2006/main">
              <a:ext uri="{FF2B5EF4-FFF2-40B4-BE49-F238E27FC236}">
                <a16:creationId xmlns:a16="http://schemas.microsoft.com/office/drawing/2014/main" id="{B9A65DD9-1A1C-4866-B2DB-7EDDAF4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 중 발생한 문제는 원인별로 분리해 해결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0" name="TextBox 6">
            <a:extLst xmlns:a="http://schemas.openxmlformats.org/drawingml/2006/main">
              <a:ext uri="{FF2B5EF4-FFF2-40B4-BE49-F238E27FC236}">
                <a16:creationId xmlns:a16="http://schemas.microsoft.com/office/drawing/2014/main" id="{9A5DF245-1F4E-4A61-B60E-CBFE8507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인프라 상태 →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HTTP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응답 → 프록시 헤더 →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Django </a:t>
            </a: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보안 설정 순서로 진단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1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663DD56-5772-4A21-8743-0BB475C9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83428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2" name="TextBox 8">
            <a:extLst xmlns:a="http://schemas.openxmlformats.org/drawingml/2006/main">
              <a:ext uri="{FF2B5EF4-FFF2-40B4-BE49-F238E27FC236}">
                <a16:creationId xmlns:a16="http://schemas.microsoft.com/office/drawing/2014/main" id="{4B5DFACC-26B7-43F7-A54B-425A0DC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28342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현상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3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6087383-0A0B-4992-B071-C944FA9F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103120"/>
            <a:ext cx="283428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4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61947F-2BFC-477E-A64C-FBDDC7A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103120"/>
            <a:ext cx="28342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5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993B41B-DB41-4541-9A95-34D9DD5A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03120"/>
            <a:ext cx="53031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6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6198C7-6702-4C97-96B1-6C391A0B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03120"/>
            <a:ext cx="53031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1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해결</a:t>
            </a:r>
            <a:endParaRPr sz="11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1AEB026-744A-4175-8380-AFF61308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8" name="TextBox 14">
            <a:extLst xmlns:a="http://schemas.openxmlformats.org/drawingml/2006/main">
              <a:ext uri="{FF2B5EF4-FFF2-40B4-BE49-F238E27FC236}">
                <a16:creationId xmlns:a16="http://schemas.microsoft.com/office/drawing/2014/main" id="{7B5902A2-991B-4BF3-98D3-D08E540F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대상 그룹 사용되지 않음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9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3715FEE-3AF1-4064-B25C-886A78AF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6032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0" name="TextBox 16">
            <a:extLst xmlns:a="http://schemas.openxmlformats.org/drawingml/2006/main">
              <a:ext uri="{FF2B5EF4-FFF2-40B4-BE49-F238E27FC236}">
                <a16:creationId xmlns:a16="http://schemas.microsoft.com/office/drawing/2014/main" id="{C345FD79-FCF3-4EF3-A650-9892C782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6032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EC2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가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2d, ALB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2a·2b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만 연결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1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E1D6608-B73A-4B55-927B-4CDDCDC6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60320"/>
            <a:ext cx="530316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2" name="TextBox 18">
            <a:extLst xmlns:a="http://schemas.openxmlformats.org/drawingml/2006/main">
              <a:ext uri="{FF2B5EF4-FFF2-40B4-BE49-F238E27FC236}">
                <a16:creationId xmlns:a16="http://schemas.microsoft.com/office/drawing/2014/main" id="{11C4ED12-C17C-42D0-86E8-4BF1481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60320"/>
            <a:ext cx="502884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ALB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네트워크 매핑에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2d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서브넷 추가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3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61406E-9339-438A-ABA5-015001D1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1028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4" name="TextBox 20">
            <a:extLst xmlns:a="http://schemas.openxmlformats.org/drawingml/2006/main">
              <a:ext uri="{FF2B5EF4-FFF2-40B4-BE49-F238E27FC236}">
                <a16:creationId xmlns:a16="http://schemas.microsoft.com/office/drawing/2014/main" id="{B66419FD-E784-4DEA-A3EE-9602EBC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1028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상태 검사 비정상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5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CADB777-A446-44DA-86BF-961EBC79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1028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6" name="TextBox 22">
            <a:extLst xmlns:a="http://schemas.openxmlformats.org/drawingml/2006/main">
              <a:ext uri="{FF2B5EF4-FFF2-40B4-BE49-F238E27FC236}">
                <a16:creationId xmlns:a16="http://schemas.microsoft.com/office/drawing/2014/main" id="{ABCAB33D-73A0-424C-B776-5108C89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41028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경로가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302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리다이렉트 반환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7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061FA83-23CB-4ACD-B49E-8373547B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10280"/>
            <a:ext cx="530316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8" name="TextBox 24">
            <a:extLst xmlns:a="http://schemas.openxmlformats.org/drawingml/2006/main">
              <a:ext uri="{FF2B5EF4-FFF2-40B4-BE49-F238E27FC236}">
                <a16:creationId xmlns:a16="http://schemas.microsoft.com/office/drawing/2014/main" id="{59558D91-8ECD-47BC-A532-8693D0B8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10280"/>
            <a:ext cx="502884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/accounts/login/ ·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성공 코드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200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적용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9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FC7356D-61E2-4CA3-B52A-C78B4E70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6024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0" name="TextBox 26">
            <a:extLst xmlns:a="http://schemas.openxmlformats.org/drawingml/2006/main">
              <a:ext uri="{FF2B5EF4-FFF2-40B4-BE49-F238E27FC236}">
                <a16:creationId xmlns:a16="http://schemas.microsoft.com/office/drawing/2014/main" id="{E578E2ED-1812-4E20-8EFC-894F3CAC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6024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HTTPS 400 Bad Request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1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737A8CB-8F26-416F-BD48-C770C1B1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6024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2" name="TextBox 28">
            <a:extLst xmlns:a="http://schemas.openxmlformats.org/drawingml/2006/main">
              <a:ext uri="{FF2B5EF4-FFF2-40B4-BE49-F238E27FC236}">
                <a16:creationId xmlns:a16="http://schemas.microsoft.com/office/drawing/2014/main" id="{8E062768-EF53-4F94-AFD3-A6918BA5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26024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X-Forwarded-Proto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중복 전달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3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7ECCB22-F4F0-4197-A270-8E7F5C4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60240"/>
            <a:ext cx="530316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4" name="TextBox 30">
            <a:extLst xmlns:a="http://schemas.openxmlformats.org/drawingml/2006/main">
              <a:ext uri="{FF2B5EF4-FFF2-40B4-BE49-F238E27FC236}">
                <a16:creationId xmlns:a16="http://schemas.microsoft.com/office/drawing/2014/main" id="{D9AC241E-B79D-43B6-8E28-1DD27EA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60240"/>
            <a:ext cx="502884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Nginx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에서 헤더를 한 번만 전달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5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3035D31-B8EA-45E3-AB2D-F3D031EA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1020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6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7FC304-080A-4B73-A54E-69F0162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1020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로그인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CSRF 403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7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569D8EF-156E-473D-9B59-15A9CA11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110200"/>
            <a:ext cx="283428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8" name="TextBox 34">
            <a:extLst xmlns:a="http://schemas.openxmlformats.org/drawingml/2006/main">
              <a:ext uri="{FF2B5EF4-FFF2-40B4-BE49-F238E27FC236}">
                <a16:creationId xmlns:a16="http://schemas.microsoft.com/office/drawing/2014/main" id="{929C4F89-839C-4F9C-8EDA-B439CA9A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110200"/>
            <a:ext cx="255996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Django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가 원 요청의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HTTPS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를 인식하지 못함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9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FC00526-E3B4-44FB-A925-C5AEAC64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10200"/>
            <a:ext cx="530316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5"/>
          </a:solidFill>
          <a:ln xmlns:a="http://schemas.openxmlformats.org/drawingml/2006/main" w="6350">
            <a:solidFill>
              <a:srgbClr val="E5DFD2"/>
            </a:solidFill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0" name="TextBox 36">
            <a:extLst xmlns:a="http://schemas.openxmlformats.org/drawingml/2006/main">
              <a:ext uri="{FF2B5EF4-FFF2-40B4-BE49-F238E27FC236}">
                <a16:creationId xmlns:a16="http://schemas.microsoft.com/office/drawing/2014/main" id="{73117263-D88B-41E3-8FF8-708D1C4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110200"/>
            <a:ext cx="5028840" cy="8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프록시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SSL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헤더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신뢰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Origin </a:t>
            </a:r>
            <a:r>
              <a:rPr sz="1050" b="0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설정</a:t>
            </a:r>
            <a:endParaRPr sz="10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1" name="TextBox 37">
            <a:extLst xmlns:a="http://schemas.openxmlformats.org/drawingml/2006/main">
              <a:ext uri="{FF2B5EF4-FFF2-40B4-BE49-F238E27FC236}">
                <a16:creationId xmlns:a16="http://schemas.microsoft.com/office/drawing/2014/main" id="{872BF6D7-51B4-4C76-ADBE-E9A2526B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배포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이근준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2" name="TextBox 38">
            <a:extLst xmlns:a="http://schemas.openxmlformats.org/drawingml/2006/main">
              <a:ext uri="{FF2B5EF4-FFF2-40B4-BE49-F238E27FC236}">
                <a16:creationId xmlns:a16="http://schemas.microsoft.com/office/drawing/2014/main" id="{53CF9B19-5EB6-49B7-90DB-B769F6F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298522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32F641-40AC-47EE-A1D0-85CA0D2A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DA43D6-FD9C-4722-8C26-913C8486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123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5" name="TextBox 4">
            <a:extLst xmlns:a="http://schemas.openxmlformats.org/drawingml/2006/main">
              <a:ext uri="{FF2B5EF4-FFF2-40B4-BE49-F238E27FC236}">
                <a16:creationId xmlns:a16="http://schemas.microsoft.com/office/drawing/2014/main" id="{21509DD0-FFD1-4C72-9014-C3ADD5B8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20"/>
            <a:ext cx="7314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1" u="none">
                <a:solidFill>
                  <a:srgbClr val="D89B3D"/>
                </a:solidFill>
                <a:latin typeface="맑은 고딕"/>
                <a:ea typeface="맑은 고딕"/>
                <a:cs typeface="맑은 고딕"/>
              </a:rPr>
              <a:t>05 · VERIFICATION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58526D-0147-4FA5-9E94-1E95B31C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51524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HTTPS </a:t>
            </a:r>
            <a:r>
              <a:rPr sz="2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서비스와 운영 지속성을 최종 검증</a:t>
            </a:r>
            <a:endParaRPr sz="2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7" name="TextBox 6">
            <a:extLst xmlns:a="http://schemas.openxmlformats.org/drawingml/2006/main">
              <a:ext uri="{FF2B5EF4-FFF2-40B4-BE49-F238E27FC236}">
                <a16:creationId xmlns:a16="http://schemas.microsoft.com/office/drawing/2014/main" id="{6F21B827-2BDA-474A-94E6-825797B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069812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30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사용자 흐름과 인프라 상태를 함께 확인해 실제 서비스 가능 상태를 검증</a:t>
            </a:r>
            <a:endParaRPr sz="13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141D6D2-96CE-401E-8C71-A98977A1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2491560" cy="1737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B3E298-4560-4A41-A6B2-918CE94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58640"/>
            <a:ext cx="2125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VERIFIED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0" name="TextBox 9">
            <a:extLst xmlns:a="http://schemas.openxmlformats.org/drawingml/2006/main">
              <a:ext uri="{FF2B5EF4-FFF2-40B4-BE49-F238E27FC236}">
                <a16:creationId xmlns:a16="http://schemas.microsoft.com/office/drawing/2014/main" id="{89963238-9565-4F01-84C8-F4B3CC35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9320"/>
            <a:ext cx="21258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ALB </a:t>
            </a:r>
            <a:r>
              <a:rPr sz="11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상태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390CD44-027A-4647-B7BA-056F180E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260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active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BEBE75-2C8C-45E9-99CF-D0B9610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922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HTTPS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리스너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ACM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인증서 연결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356D39A-F5A7-4F55-A141-B94DE2CD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760" y="2103120"/>
            <a:ext cx="2491560" cy="1737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279972-EED9-472E-A46B-E496AED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40" y="2258640"/>
            <a:ext cx="2125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VERIFIED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1570734-4BFA-4B9A-B14F-39E5C056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40" y="2569320"/>
            <a:ext cx="21258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대상 그룹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AAF076-8446-4E12-A624-0B8F243F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40" y="29260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healthy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F71BD41-C2F7-420C-B30B-9391320B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40" y="33922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EC2 :80 ·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로그인 경로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200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응답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C88F932-8237-4FD6-B1AD-870987DD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3120"/>
            <a:ext cx="2491560" cy="1737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88FF6B1-152B-4D22-A5A3-EAC1D8F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58640"/>
            <a:ext cx="2125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VERIFIED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B48DC5C-329F-4C88-A27E-355B07D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69320"/>
            <a:ext cx="21258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사용자 기능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2E47DC9-1444-4DEC-8F0A-BC981B39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260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정상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1AB8B90-B12E-47D2-A625-E4A56BC3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922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회원가입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로그인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채팅 동작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D3D0704-CB69-41D9-B07D-CC60A111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000" y="2103120"/>
            <a:ext cx="2491560" cy="1737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4EBE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FC0668C-784B-4147-B0A4-6551CE5F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880" y="2258640"/>
            <a:ext cx="21258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VERIFIED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73249B6-C6DC-4DF7-A3CD-87A85247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880" y="2569320"/>
            <a:ext cx="21258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150" b="1" u="none">
                <a:solidFill>
                  <a:srgbClr val="2C2A26"/>
                </a:solidFill>
                <a:latin typeface="맑은 고딕"/>
                <a:ea typeface="맑은 고딕"/>
                <a:cs typeface="맑은 고딕"/>
              </a:rPr>
              <a:t>프로세스 운영</a:t>
            </a:r>
            <a:endParaRPr sz="11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1721D13-E70A-460D-A7E2-C8C1027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880" y="29260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800" b="1" u="none">
                <a:solidFill>
                  <a:srgbClr val="3A4F37"/>
                </a:solidFill>
                <a:latin typeface="맑은 고딕"/>
                <a:ea typeface="맑은 고딕"/>
                <a:cs typeface="맑은 고딕"/>
              </a:rPr>
              <a:t>자동 실행</a:t>
            </a:r>
            <a:endParaRPr sz="18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2D5A281-04F9-4C2C-91E6-0C4BF7C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880" y="3392280"/>
            <a:ext cx="212580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systemd · </a:t>
            </a:r>
            <a:r>
              <a:rPr sz="850" b="0" u="none">
                <a:solidFill>
                  <a:srgbClr val="6B6558"/>
                </a:solidFill>
                <a:latin typeface="맑은 고딕"/>
                <a:ea typeface="맑은 고딕"/>
                <a:cs typeface="맑은 고딕"/>
              </a:rPr>
              <a:t>재부팅 후에도 서비스 유지</a:t>
            </a:r>
            <a:endParaRPr sz="85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39DA6908-4209-4CE0-937D-A70FFF70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972440" cy="822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A4F3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17D2C00-AF0A-4456-B7D0-3014651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0972440" cy="82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15000"/>
              </a:lnSpc>
              <a:buNone/>
            </a:pP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 결과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HTTPS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기반의 안정적인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PetTriage </a:t>
            </a:r>
            <a:r>
              <a:rPr sz="1600" b="1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운영 환경 구축 완료</a:t>
            </a:r>
            <a:endParaRPr sz="16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018953D-D200-45D8-89EC-DA73E8E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600"/>
            <a:ext cx="5486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AWS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배포 담당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이근준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4F830BC-AB7B-4A8B-A5BC-8CB3C71D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0600"/>
            <a:ext cx="100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3080" tIns="36720" rIns="73080" bIns="3672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15000"/>
              </a:lnSpc>
              <a:buNone/>
            </a:pPr>
            <a:r>
              <a:rPr sz="900" b="0" u="none">
                <a:solidFill>
                  <a:srgbClr val="A39C8C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 b="0" u="none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934993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2026-08-27T03:05:48.2100000Z</dcterms:created>
  <dcterms:modified xsi:type="dcterms:W3CDTF">2026-08-27T03:05:48.2100000Z</dcterms:modified>
</coreProperties>
</file>