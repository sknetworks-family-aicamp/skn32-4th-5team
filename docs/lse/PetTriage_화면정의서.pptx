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89B3D"/>
                </a:solidFill>
                <a:latin typeface="맑은 고딕"/>
              </a:rPr>
              <a:t>PROJECT PETTRIAGE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화면정의서 (UI Screen Specification)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9E2D6"/>
                </a:solidFill>
                <a:latin typeface="맑은 고딕"/>
              </a:rPr>
              <a:t>반려동물 위험도 판정 · 기록장 서비스 — 화면 흐름 및 상세 정의 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BAA"/>
                </a:solidFill>
                <a:latin typeface="맑은 고딕"/>
              </a:rPr>
              <a:t>2026-08-26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전체 화면 흐름도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Screen Flow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783080" cy="640080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 w="6350">
            <a:solidFill>
              <a:srgbClr val="B35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B3542F"/>
                </a:solidFill>
                <a:latin typeface="맑은 고딕"/>
              </a:rPr>
              <a:t>SC-001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B3542F"/>
                </a:solidFill>
                <a:latin typeface="맑은 고딕"/>
              </a:rPr>
              <a:t>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783080" cy="640080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 w="6350">
            <a:solidFill>
              <a:srgbClr val="B35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B3542F"/>
                </a:solidFill>
                <a:latin typeface="맑은 고딕"/>
              </a:rPr>
              <a:t>SC-002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B3542F"/>
                </a:solidFill>
                <a:latin typeface="맑은 고딕"/>
              </a:rPr>
              <a:t>회원가입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44168" y="2194560"/>
            <a:ext cx="0" cy="457200"/>
          </a:xfrm>
          <a:prstGeom prst="bentConnector3">
            <a:avLst/>
          </a:prstGeom>
          <a:ln w="19050">
            <a:solidFill>
              <a:srgbClr val="A3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965960" y="1874519"/>
            <a:ext cx="0" cy="960121"/>
          </a:xfrm>
          <a:prstGeom prst="bentConnector3">
            <a:avLst/>
          </a:prstGeom>
          <a:ln w="19050">
            <a:solidFill>
              <a:srgbClr val="A3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40280" y="1737360"/>
            <a:ext cx="640080" cy="137159"/>
          </a:xfrm>
          <a:prstGeom prst="bentConnector3">
            <a:avLst/>
          </a:prstGeom>
          <a:ln w="19050">
            <a:solidFill>
              <a:srgbClr val="A3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11680" y="1417320"/>
            <a:ext cx="1371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3A4F37"/>
                </a:solidFill>
                <a:latin typeface="맑은 고딕"/>
              </a:rPr>
              <a:t>로그인 성공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417320"/>
            <a:ext cx="2331720" cy="68580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SC-005 위험 체크 채팅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(기본 진입점)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286000"/>
            <a:ext cx="2331720" cy="54864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4F37"/>
                </a:solidFill>
                <a:latin typeface="맑은 고딕"/>
              </a:rPr>
              <a:t>SC-006 채팅 내역 목록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3017520"/>
            <a:ext cx="2331720" cy="54864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4F37"/>
                </a:solidFill>
                <a:latin typeface="맑은 고딕"/>
              </a:rPr>
              <a:t>SC-008 기록장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1234440"/>
            <a:ext cx="2606040" cy="25146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1234440"/>
            <a:ext cx="256032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A4F37"/>
                </a:solidFill>
                <a:latin typeface="맑은 고딕"/>
              </a:rPr>
              <a:t>사이드바 레이아웃 화면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2560320"/>
            <a:ext cx="594360" cy="0"/>
          </a:xfrm>
          <a:prstGeom prst="bentConnector3">
            <a:avLst/>
          </a:prstGeom>
          <a:ln w="19050">
            <a:solidFill>
              <a:srgbClr val="A3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806440" y="2286000"/>
            <a:ext cx="2057400" cy="54864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4F37"/>
                </a:solidFill>
                <a:latin typeface="맑은 고딕"/>
              </a:rPr>
              <a:t>SC-007 채팅 세션 상세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12080" y="3291840"/>
            <a:ext cx="594360" cy="0"/>
          </a:xfrm>
          <a:prstGeom prst="bentConnector3">
            <a:avLst/>
          </a:prstGeom>
          <a:ln w="19050">
            <a:solidFill>
              <a:srgbClr val="A3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74920" y="33101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6B6558"/>
                </a:solidFill>
                <a:latin typeface="맑은 고딕"/>
              </a:rPr>
              <a:t>'반려동물'</a:t>
            </a:r>
          </a:p>
          <a:p>
            <a:pPr algn="ctr">
              <a:lnSpc>
                <a:spcPct val="115000"/>
              </a:lnSpc>
            </a:pPr>
            <a:r>
              <a:rPr sz="700" b="0">
                <a:solidFill>
                  <a:srgbClr val="6B6558"/>
                </a:solidFill>
                <a:latin typeface="맑은 고딕"/>
              </a:rPr>
              <a:t>메뉴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017520"/>
            <a:ext cx="2057400" cy="548640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 w="6350">
            <a:solidFill>
              <a:srgbClr val="D8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C98A1E"/>
                </a:solidFill>
                <a:latin typeface="맑은 고딕"/>
              </a:rPr>
              <a:t>SC-003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C98A1E"/>
                </a:solidFill>
                <a:latin typeface="맑은 고딕"/>
              </a:rPr>
              <a:t>반려동물 목록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17520"/>
            <a:ext cx="2194560" cy="548640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 w="6350">
            <a:solidFill>
              <a:srgbClr val="D8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C98A1E"/>
                </a:solidFill>
                <a:latin typeface="맑은 고딕"/>
              </a:rPr>
              <a:t>SC-004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C98A1E"/>
                </a:solidFill>
                <a:latin typeface="맑은 고딕"/>
              </a:rPr>
              <a:t>반려동물 등록/수정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3200400"/>
            <a:ext cx="274320" cy="0"/>
          </a:xfrm>
          <a:prstGeom prst="bentConnector3">
            <a:avLst/>
          </a:prstGeom>
          <a:ln w="19050">
            <a:solidFill>
              <a:srgbClr val="A3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863840" y="3383280"/>
            <a:ext cx="274320" cy="0"/>
          </a:xfrm>
          <a:prstGeom prst="bentConnector3">
            <a:avLst/>
          </a:prstGeom>
          <a:ln w="19050">
            <a:solidFill>
              <a:srgbClr val="A3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669280" y="2834640"/>
            <a:ext cx="4709160" cy="9144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D8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15000" y="2834640"/>
            <a:ext cx="36576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8A5C10"/>
                </a:solidFill>
                <a:latin typeface="맑은 고딕"/>
              </a:rPr>
              <a:t>별도 상단바 레이아웃 (사이드바 없음)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11292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270248"/>
            <a:ext cx="10058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A4F37"/>
                </a:solidFill>
                <a:latin typeface="맑은 고딕"/>
              </a:rPr>
              <a:t>핵심 규칙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C2A26"/>
                </a:solidFill>
                <a:latin typeface="맑은 고딕"/>
              </a:rPr>
              <a:t>- 미인증 상태로 로그인 필요 화면(SC-003~008) 접근 시 → SC-001(로그인)로 리다이렉트 (@login_required)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C2A26"/>
                </a:solidFill>
                <a:latin typeface="맑은 고딕"/>
              </a:rPr>
              <a:t>- 로그인 성공 시 기본 진입점은 SC-005(위험 체크 채팅) — 첫 번째 반려동물이 자동 선택된다. SC-003(반려동물 목록)을 먼저 거치지 않는다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C2A26"/>
                </a:solidFill>
                <a:latin typeface="맑은 고딕"/>
              </a:rPr>
              <a:t>- 다른 반려동물로 바꾸려면 사이드바 "반려동물" 메뉴에서 SC-003으로 이동해 선택한다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C2A26"/>
                </a:solidFill>
                <a:latin typeface="맑은 고딕"/>
              </a:rPr>
              <a:t>- SC-003 · SC-004는 사이드바가 아닌 별도 상단바 레이아웃 사용 — SC-005/006/007/008(사이드바 레이아웃)과 구조가 다름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화면 목록 요약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Screen Inventory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88720" cy="457200"/>
          </a:xfrm>
          <a:prstGeom prst="rect">
            <a:avLst/>
          </a:prstGeom>
          <a:solidFill>
            <a:srgbClr val="3A4F37"/>
          </a:solidFill>
          <a:ln w="9525">
            <a:solidFill>
              <a:srgbClr val="3A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화면ID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417320"/>
            <a:ext cx="2286000" cy="457200"/>
          </a:xfrm>
          <a:prstGeom prst="rect">
            <a:avLst/>
          </a:prstGeom>
          <a:solidFill>
            <a:srgbClr val="3A4F37"/>
          </a:solidFill>
          <a:ln w="9525">
            <a:solidFill>
              <a:srgbClr val="3A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화면명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417320"/>
            <a:ext cx="5532120" cy="457200"/>
          </a:xfrm>
          <a:prstGeom prst="rect">
            <a:avLst/>
          </a:prstGeom>
          <a:solidFill>
            <a:srgbClr val="3A4F37"/>
          </a:solidFill>
          <a:ln w="9525">
            <a:solidFill>
              <a:srgbClr val="3A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59" y="1417320"/>
            <a:ext cx="2194560" cy="457200"/>
          </a:xfrm>
          <a:prstGeom prst="rect">
            <a:avLst/>
          </a:prstGeom>
          <a:solidFill>
            <a:srgbClr val="3A4F37"/>
          </a:solidFill>
          <a:ln w="9525">
            <a:solidFill>
              <a:srgbClr val="3A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관련 요구사항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SC-001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874519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로그인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874519"/>
            <a:ext cx="5532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아이디/비밀번호 세션 로그인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59" y="1874519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FR-AUTH-002/005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04872"/>
            <a:ext cx="118872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SC-002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404872"/>
            <a:ext cx="228600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회원가입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2404872"/>
            <a:ext cx="553212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아이디 중복확인 포함 계정 생성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59" y="2404872"/>
            <a:ext cx="219456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FR-AUTH-001/004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35224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SC-003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2935224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반려동물 목록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2935224"/>
            <a:ext cx="5532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보유 반려동물 카드 목록 + 신규 등록 진입점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59" y="2935224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FR-PET-002/006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65576"/>
            <a:ext cx="118872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SC-004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3465576"/>
            <a:ext cx="228600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반려동물 등록/수정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3465576"/>
            <a:ext cx="553212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프로필 입력·수정·삭제, 사진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59" y="3465576"/>
            <a:ext cx="219456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FR-PET-001/003/004/005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95928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SC-005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3995928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위험 체크 채팅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7639" y="3995928"/>
            <a:ext cx="5532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AI 응급도 판정 채팅(FastAPI /api/ask)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59" y="3995928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FR-CHAT-001~006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26280"/>
            <a:ext cx="118872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SC-006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4526280"/>
            <a:ext cx="228600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채팅 내역 목록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7639" y="4526280"/>
            <a:ext cx="553212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본인 pet 세션 최신순 목록 + 응급도 배지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59" y="4526280"/>
            <a:ext cx="219456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FR-HIST-001/002/004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056632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SC-007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5056632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채팅 세션 상세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5056632"/>
            <a:ext cx="5532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선택 세션의 대화 전체 재생(읽기전용)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59" y="5056632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FR-HIST-003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586984"/>
            <a:ext cx="118872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SC-008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5586984"/>
            <a:ext cx="228600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기록장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39" y="5586984"/>
            <a:ext cx="553212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일일 기록 · 체중그래프 · 캘린더 · 스트릭 · 급변알림 · 리포트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59" y="5586984"/>
            <a:ext cx="2194560" cy="530352"/>
          </a:xfrm>
          <a:prstGeom prst="rect">
            <a:avLst/>
          </a:prstGeom>
          <a:solidFill>
            <a:srgbClr val="F3EFE5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C2A26"/>
                </a:solidFill>
                <a:latin typeface="맑은 고딕"/>
              </a:rPr>
              <a:t>FR-DIARY-001~011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SC-001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로그인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9893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989320" cy="292608"/>
          </a:xfrm>
          <a:prstGeom prst="rect">
            <a:avLst/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508760"/>
            <a:ext cx="100584" cy="100584"/>
          </a:xfrm>
          <a:prstGeom prst="ellipse">
            <a:avLst/>
          </a:prstGeom>
          <a:solidFill>
            <a:srgbClr val="B3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1508760"/>
            <a:ext cx="100584" cy="100584"/>
          </a:xfrm>
          <a:prstGeom prst="ellipse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1508760"/>
            <a:ext cx="100584" cy="100584"/>
          </a:xfrm>
          <a:prstGeom prst="ellipse">
            <a:avLst/>
          </a:prstGeom>
          <a:solidFill>
            <a:srgbClr val="4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1444752"/>
            <a:ext cx="489204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09928"/>
            <a:ext cx="2515514" cy="4416552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984248"/>
            <a:ext cx="2149754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🐾 PetTriage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95728"/>
            <a:ext cx="2149754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"이거 먹어도 돼?"를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더는 헷갈리지 않게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20640"/>
            <a:ext cx="2149754" cy="777240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3A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F6E4DB"/>
                </a:solidFill>
                <a:latin typeface="맑은 고딕"/>
              </a:rPr>
              <a:t>⚠ 위험 정보 카드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F6E4DB"/>
                </a:solidFill>
                <a:latin typeface="맑은 고딕"/>
              </a:rPr>
              <a:t>(예: 포도 금지 안내)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5594" y="1892808"/>
            <a:ext cx="3336645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3A4F37"/>
                </a:solidFill>
                <a:latin typeface="맑은 고딕"/>
              </a:rPr>
              <a:t>WELCOME 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5594" y="2121408"/>
            <a:ext cx="3336645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C2A26"/>
                </a:solidFill>
                <a:latin typeface="맑은 고딕"/>
              </a:rPr>
              <a:t>로그인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5594" y="2624328"/>
            <a:ext cx="3336645" cy="384048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아이디 입력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5594" y="3127248"/>
            <a:ext cx="3336645" cy="384048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비밀번호 입력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5594" y="3675887"/>
            <a:ext cx="3336645" cy="457200"/>
          </a:xfrm>
          <a:prstGeom prst="roundRect">
            <a:avLst>
              <a:gd name="adj" fmla="val 6000"/>
            </a:avLst>
          </a:prstGeom>
          <a:solidFill>
            <a:srgbClr val="4F6B4A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로그인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5594" y="4270248"/>
            <a:ext cx="3336645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계정이 없으신가요? 회원가입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1417320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30568" y="1444752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관련 요구사항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444752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FR-AUTH-002, FR-AUTH-005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929384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진입 경로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956816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앱 최초 접속(/accounts/login/) · 미인증 상태로 보호 페이지 접근 시 자동 리다이렉트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496312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UI 구성요소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2752344"/>
            <a:ext cx="4983480" cy="1042415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0568" y="2816352"/>
            <a:ext cx="4764024" cy="104241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좌측 브랜드 패널 (카피 문구 + 위험정보 카드)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우측 로그인 폼: 아이디, 비밀번호 입력란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오류 메시지 박스 (인증 실패 시 노출)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"회원가입" 이동 링크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922775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동작 / 이벤트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4178807"/>
            <a:ext cx="4983480" cy="818388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30568" y="4242816"/>
            <a:ext cx="4764024" cy="8183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아이디·비밀번호 입력 후 제출(POST)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Django 세션 인증 성공 → sessionid 쿠키 발급, /chat/ 이동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인증 실패 → 에러 박스 표시, 같은 화면 유지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5211"/>
            <a:ext cx="4983480" cy="2194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다음 화면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5362955"/>
            <a:ext cx="4983480" cy="329184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>
              <a:lnSpc>
                <a:spcPct val="115000"/>
              </a:lnSpc>
            </a:pPr>
            <a:r>
              <a:rPr sz="1000" b="1">
                <a:solidFill>
                  <a:srgbClr val="B3542F"/>
                </a:solidFill>
                <a:latin typeface="맑은 고딕"/>
              </a:rPr>
              <a:t>로그인 성공 → </a:t>
            </a:r>
            <a:r>
              <a:rPr lang="en-US" altLang="ko-KR" sz="1000" b="1">
                <a:solidFill>
                  <a:srgbClr val="B3542F"/>
                </a:solidFill>
                <a:latin typeface="맑은 고딕"/>
              </a:rPr>
              <a:t>SC-005(</a:t>
            </a:r>
            <a:r>
              <a:rPr lang="ko-KR" altLang="en-US" sz="1000" b="1">
                <a:solidFill>
                  <a:srgbClr val="B3542F"/>
                </a:solidFill>
                <a:latin typeface="맑은 고딕"/>
              </a:rPr>
              <a:t>위험 체크 채팅</a:t>
            </a:r>
            <a:r>
              <a:rPr lang="en-US" altLang="ko-KR" sz="1000" b="1">
                <a:solidFill>
                  <a:srgbClr val="B3542F"/>
                </a:solidFill>
                <a:latin typeface="맑은 고딕"/>
              </a:rPr>
              <a:t>)</a:t>
            </a:r>
            <a:r>
              <a:rPr sz="1000" b="1">
                <a:solidFill>
                  <a:srgbClr val="B3542F"/>
                </a:solidFill>
                <a:latin typeface="맑은 고딕"/>
              </a:rPr>
              <a:t>/ "회원가입" 클릭 → SC-002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SC-002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회원가입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9893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989320" cy="292608"/>
          </a:xfrm>
          <a:prstGeom prst="rect">
            <a:avLst/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508760"/>
            <a:ext cx="100584" cy="100584"/>
          </a:xfrm>
          <a:prstGeom prst="ellipse">
            <a:avLst/>
          </a:prstGeom>
          <a:solidFill>
            <a:srgbClr val="B3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1508760"/>
            <a:ext cx="100584" cy="100584"/>
          </a:xfrm>
          <a:prstGeom prst="ellipse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1508760"/>
            <a:ext cx="100584" cy="100584"/>
          </a:xfrm>
          <a:prstGeom prst="ellipse">
            <a:avLst/>
          </a:prstGeom>
          <a:solidFill>
            <a:srgbClr val="4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1444752"/>
            <a:ext cx="489204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Sign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09928"/>
            <a:ext cx="2515514" cy="4416552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984248"/>
            <a:ext cx="2149754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🐾 PetTriage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95728"/>
            <a:ext cx="2149754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우리 아이 안전,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여기서 시작해요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5594" y="1801368"/>
            <a:ext cx="3336645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C2A26"/>
                </a:solidFill>
                <a:latin typeface="맑은 고딕"/>
              </a:rPr>
              <a:t>회원가입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5594" y="2212848"/>
            <a:ext cx="2068720" cy="36576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아이디 (4~16자)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97466" y="2212848"/>
            <a:ext cx="1194773" cy="365760"/>
          </a:xfrm>
          <a:prstGeom prst="roundRect">
            <a:avLst>
              <a:gd name="adj" fmla="val 6000"/>
            </a:avLst>
          </a:prstGeom>
          <a:solidFill>
            <a:srgbClr val="D89B3D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맑은 고딕"/>
              </a:rPr>
              <a:t>중복확인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5594" y="2596896"/>
            <a:ext cx="3336645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4F6B4A"/>
                </a:solidFill>
                <a:latin typeface="맑은 고딕"/>
              </a:rPr>
              <a:t>사용 가능한 아이디입니다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5594" y="2898648"/>
            <a:ext cx="3336645" cy="36576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비밀번호 (8자 이상)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5594" y="3337560"/>
            <a:ext cx="3336645" cy="36576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비밀번호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5594" y="3858768"/>
            <a:ext cx="3336645" cy="457200"/>
          </a:xfrm>
          <a:prstGeom prst="roundRect">
            <a:avLst>
              <a:gd name="adj" fmla="val 6000"/>
            </a:avLst>
          </a:prstGeom>
          <a:solidFill>
            <a:srgbClr val="4F6B4A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회원가입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1417320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30568" y="1444752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관련 요구사항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444752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FR-AUTH-001, FR-AUTH-004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929384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진입 경로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956816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로그인 화면 하단 "회원가입" 링크 클릭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496312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UI 구성요소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2752344"/>
            <a:ext cx="4983480" cy="1042415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0568" y="2816352"/>
            <a:ext cx="4764024" cy="104241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아이디 입력란 + "중복확인" 버튼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실시간 확인 결과 힌트 텍스트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비밀번호 / 비밀번호 확인 입력란 + 일치 여부 힌트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회원가입 제출 버튼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922775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동작 / 이벤트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4178807"/>
            <a:ext cx="4983480" cy="818388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30568" y="4242816"/>
            <a:ext cx="4764024" cy="8183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"중복확인" 클릭 → AJAX로 accounts:check_id 호출, 사용 가능 여부 즉시 표시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비밀번호/확인 입력값 불일치 시 안내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제출 → Django auth_user 테이블에 계정 생성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5211"/>
            <a:ext cx="4983480" cy="2194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다음 화면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5362955"/>
            <a:ext cx="4983480" cy="329184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>
              <a:lnSpc>
                <a:spcPct val="115000"/>
              </a:lnSpc>
            </a:pPr>
            <a:r>
              <a:rPr lang="ko-KR" altLang="en-US" sz="1000" b="1">
                <a:solidFill>
                  <a:schemeClr val="accent2"/>
                </a:solidFill>
              </a:rPr>
              <a:t>로그인 화면 이동 후 재로그인 </a:t>
            </a:r>
            <a:r>
              <a:rPr lang="en-US" altLang="ko-KR" sz="1000" b="1">
                <a:solidFill>
                  <a:schemeClr val="accent2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b="1">
                <a:solidFill>
                  <a:schemeClr val="accent2"/>
                </a:solidFill>
                <a:sym typeface="Wingdings" panose="05000000000000000000" pitchFamily="2" charset="2"/>
              </a:rPr>
              <a:t>화면 이동 후 로그인 으로 변경</a:t>
            </a:r>
            <a:endParaRPr sz="1000" b="1">
              <a:solidFill>
                <a:schemeClr val="accent2"/>
              </a:solidFill>
              <a:latin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SC-003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반려동물 목록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Pet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9893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989320" cy="292608"/>
          </a:xfrm>
          <a:prstGeom prst="rect">
            <a:avLst/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508760"/>
            <a:ext cx="100584" cy="100584"/>
          </a:xfrm>
          <a:prstGeom prst="ellipse">
            <a:avLst/>
          </a:prstGeom>
          <a:solidFill>
            <a:srgbClr val="B3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1508760"/>
            <a:ext cx="100584" cy="100584"/>
          </a:xfrm>
          <a:prstGeom prst="ellipse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1508760"/>
            <a:ext cx="100584" cy="100584"/>
          </a:xfrm>
          <a:prstGeom prst="ellipse">
            <a:avLst/>
          </a:prstGeom>
          <a:solidFill>
            <a:srgbClr val="4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1444752"/>
            <a:ext cx="489204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Pet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09928"/>
            <a:ext cx="5989320" cy="457200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맑은 고딕"/>
              </a:rPr>
              <a:t>🐾 PetTriage        사용자님   로그아웃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7150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C2A26"/>
                </a:solidFill>
                <a:latin typeface="맑은 고딕"/>
              </a:rPr>
              <a:t>어떤 아이로 시작할까요?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70048"/>
            <a:ext cx="1298448" cy="128016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🐶 콩이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소형견 · 2살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4.2kg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1298448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6B6558"/>
                </a:solidFill>
                <a:latin typeface="맑은 고딕"/>
              </a:rPr>
              <a:t>⚙️ 프로필 설정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84831" y="2670048"/>
            <a:ext cx="1298448" cy="128016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🐱 나비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중형묘 · 1살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3977640"/>
            <a:ext cx="1298448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6B6558"/>
                </a:solidFill>
                <a:latin typeface="맑은 고딕"/>
              </a:rPr>
              <a:t>⚙️ 프로필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9584" y="2670048"/>
            <a:ext cx="1298448" cy="128016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🦜 초코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앵무새 · 6개월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3977640"/>
            <a:ext cx="1298448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6B6558"/>
                </a:solidFill>
                <a:latin typeface="맑은 고딕"/>
              </a:rPr>
              <a:t>⚙️ 프로필 설정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74336" y="2670048"/>
            <a:ext cx="1298448" cy="128016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A39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A39C8C"/>
                </a:solidFill>
                <a:latin typeface="맑은 고딕"/>
              </a:rPr>
              <a:t>+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A39C8C"/>
                </a:solidFill>
                <a:latin typeface="맑은 고딕"/>
              </a:rPr>
              <a:t>새로 만들기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33872"/>
            <a:ext cx="589788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A39C8C"/>
                </a:solidFill>
                <a:latin typeface="맑은 고딕"/>
              </a:rPr>
              <a:t>※ 예시 3마리만 표시 — 실제 화면 캡처(등록 마리 수에 따른 하단 스크롤 영역 포함)로 교체 예정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1417320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30568" y="1444752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관련 요구사항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444752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FR-PET-002, FR-PET-006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929384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진입 경로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956816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로그인 직후 기본 진입 화면 · 사이드바 "반려동물" 메뉴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496312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UI 구성요소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2752344"/>
            <a:ext cx="4983480" cy="1042415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0568" y="2816352"/>
            <a:ext cx="4764024" cy="104241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상단바: 로고, 사용자명, 로그아웃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반려동물 카드 그리드 (사진/이름, 크기·나이, 체중, 특이사항 배지)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카드별 "프로필 설정" 보조 링크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"새로 만들기" 카드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922775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동작 / 이벤트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4178807"/>
            <a:ext cx="4983480" cy="818388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30568" y="4242816"/>
            <a:ext cx="4764024" cy="8183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카드 클릭 → 해당 pet 기준으로 채팅 화면 이동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"프로필 설정" 클릭 → 수정 화면 이동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"새로 만들기" 클릭 → 등록 화면 이동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5211"/>
            <a:ext cx="4983480" cy="2194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다음 화면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5362955"/>
            <a:ext cx="4983480" cy="329184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3542F"/>
                </a:solidFill>
                <a:latin typeface="맑은 고딕"/>
              </a:rPr>
              <a:t>SC-005(채팅) 또는 SC-004(등록/수정)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SC-004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반려동물 등록 / 수정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Pet Create · Edit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9893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989320" cy="292608"/>
          </a:xfrm>
          <a:prstGeom prst="rect">
            <a:avLst/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508760"/>
            <a:ext cx="100584" cy="100584"/>
          </a:xfrm>
          <a:prstGeom prst="ellipse">
            <a:avLst/>
          </a:prstGeom>
          <a:solidFill>
            <a:srgbClr val="B3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1508760"/>
            <a:ext cx="100584" cy="100584"/>
          </a:xfrm>
          <a:prstGeom prst="ellipse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1508760"/>
            <a:ext cx="100584" cy="100584"/>
          </a:xfrm>
          <a:prstGeom prst="ellipse">
            <a:avLst/>
          </a:prstGeom>
          <a:solidFill>
            <a:srgbClr val="4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1444752"/>
            <a:ext cx="489204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Pet Create · Edit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09928"/>
            <a:ext cx="2036368" cy="4416552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84248"/>
            <a:ext cx="1762048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</a:rPr>
              <a:t>이제부터 같이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</a:rPr>
              <a:t>나눠 먹을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6448" y="1755648"/>
            <a:ext cx="2901391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C2A26"/>
                </a:solidFill>
                <a:latin typeface="맑은 고딕"/>
              </a:rPr>
              <a:t>반려동물 프로필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59" y="1764792"/>
            <a:ext cx="868680" cy="237744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8A5C10"/>
                </a:solidFill>
                <a:latin typeface="맑은 고딕"/>
              </a:rPr>
              <a:t>등록 모드</a:t>
            </a:r>
          </a:p>
        </p:txBody>
      </p:sp>
      <p:sp>
        <p:nvSpPr>
          <p:cNvPr id="17" name="Oval 16"/>
          <p:cNvSpPr/>
          <p:nvPr/>
        </p:nvSpPr>
        <p:spPr>
          <a:xfrm>
            <a:off x="4291736" y="2093976"/>
            <a:ext cx="585216" cy="585216"/>
          </a:xfrm>
          <a:prstGeom prst="ellipse">
            <a:avLst/>
          </a:prstGeom>
          <a:solidFill>
            <a:srgbClr val="E4EBE1"/>
          </a:solidFill>
          <a:ln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3A4F37"/>
                </a:solidFill>
                <a:latin typeface="맑은 고딕"/>
              </a:rPr>
              <a:t>사진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6448" y="2807208"/>
            <a:ext cx="3815791" cy="32004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이름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76448" y="3191256"/>
            <a:ext cx="1862175" cy="32004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나이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0064" y="3191256"/>
            <a:ext cx="1862175" cy="32004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성별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76448" y="3575304"/>
            <a:ext cx="3815791" cy="32004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체중 / 특이사항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6448" y="3959352"/>
            <a:ext cx="3815791" cy="320040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C98A1E"/>
                </a:solidFill>
                <a:latin typeface="맑은 고딕"/>
              </a:rPr>
              <a:t>품종  🐶 🐱 🦜        크기  소/중/대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6448" y="4407408"/>
            <a:ext cx="3815791" cy="292608"/>
          </a:xfrm>
          <a:prstGeom prst="roundRect">
            <a:avLst>
              <a:gd name="adj" fmla="val 6000"/>
            </a:avLst>
          </a:prstGeom>
          <a:solidFill>
            <a:srgbClr val="4F6B4A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프로필 저장하고 한입 나누러 가기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76448" y="4736592"/>
            <a:ext cx="3815791" cy="27432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저장하고 추가 프로필 만들기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76448" y="5138928"/>
            <a:ext cx="3815791" cy="566928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6350">
            <a:solidFill>
              <a:srgbClr val="E8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67888" y="5166360"/>
            <a:ext cx="3632911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9A3B3B"/>
                </a:solidFill>
                <a:latin typeface="맑은 고딕"/>
              </a:rPr>
              <a:t>🔁 수정 모드일 때 달라지는 부분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7888" y="5358384"/>
            <a:ext cx="3632911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700">
                <a:solidFill>
                  <a:srgbClr val="7A3216"/>
                </a:solidFill>
                <a:latin typeface="맑은 고딕"/>
              </a:rPr>
              <a:t>- 타이틀 "프로필 수정", 기존 값이 채워진 채로 표시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700">
                <a:solidFill>
                  <a:srgbClr val="7A3216"/>
                </a:solidFill>
                <a:latin typeface="맑은 고딕"/>
              </a:rPr>
              <a:t>- 저장 버튼 1개("저장하기")만 노출 + 하단에 "프로필 삭제" 버튼 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1417320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30568" y="1444752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관련 요구사항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1444752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FR-PET-001, FR-PET-003, FR-PET-004, FR-PET-005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1929384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0568" y="1956816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진입 경로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1956816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SC-003의 "새로 만들기"(등록) / "프로필 설정"(수정)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496312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UI 구성요소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2752344"/>
            <a:ext cx="4983480" cy="1042415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30568" y="2816352"/>
            <a:ext cx="4764024" cy="78688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사진 업로드 원형 썸네일 + "사진 삭제" 버튼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이름·나이·성별·체중·한줄소개·특이사항 입력란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품종(개/고양이/</a:t>
            </a:r>
            <a:r>
              <a:rPr lang="ko-KR" altLang="en-US" sz="900">
                <a:solidFill>
                  <a:srgbClr val="2C2A26"/>
                </a:solidFill>
                <a:latin typeface="맑은 고딕"/>
              </a:rPr>
              <a:t>앵무</a:t>
            </a:r>
            <a:r>
              <a:rPr sz="900">
                <a:solidFill>
                  <a:srgbClr val="2C2A26"/>
                </a:solidFill>
                <a:latin typeface="맑은 고딕"/>
              </a:rPr>
              <a:t>새) 선택, 크기 선택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[등록모드] 저장 버튼 2개(채팅 이동 / 추가 등록) · [수정모드] 저장 버튼 1개 + 삭제 버튼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922775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동작 / 이벤트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178807"/>
            <a:ext cx="4983480" cy="1042415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30568" y="4242816"/>
            <a:ext cx="4764024" cy="104241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폼 저장(POST, multipart) → 등록 또는 수정 반영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사진만 별도 삭제 가능(프로필 유지)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삭제는 POST 요청으로만 처리(안전) → 반려동물 삭제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동일 템플릿이 pet 존재 여부로 등록/수정 모드를 분기(타이틀·버튼 구성이 달라짐)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349239"/>
            <a:ext cx="4983480" cy="2194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다음 화면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5586983"/>
            <a:ext cx="4983480" cy="329184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3542F"/>
                </a:solidFill>
                <a:latin typeface="맑은 고딕"/>
              </a:rPr>
              <a:t>저장 → SC-005 또는 SC-004(추가 등록) / 삭제 → SC-003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20840" y="5989320"/>
            <a:ext cx="4983480" cy="36576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9525">
            <a:solidFill>
              <a:srgbClr val="E8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3B3B"/>
                </a:solidFill>
                <a:latin typeface="맑은 고딕"/>
              </a:rPr>
              <a:t>⚠ 확인 필요: 사이드바 없음 — SC-003과 동일 이슈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SC-005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위험 체크 채팅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Risk-Check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9893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989320" cy="292608"/>
          </a:xfrm>
          <a:prstGeom prst="rect">
            <a:avLst/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508760"/>
            <a:ext cx="100584" cy="100584"/>
          </a:xfrm>
          <a:prstGeom prst="ellipse">
            <a:avLst/>
          </a:prstGeom>
          <a:solidFill>
            <a:srgbClr val="B3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1508760"/>
            <a:ext cx="100584" cy="100584"/>
          </a:xfrm>
          <a:prstGeom prst="ellipse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1508760"/>
            <a:ext cx="100584" cy="100584"/>
          </a:xfrm>
          <a:prstGeom prst="ellipse">
            <a:avLst/>
          </a:prstGeom>
          <a:solidFill>
            <a:srgbClr val="4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1444752"/>
            <a:ext cx="489204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Risk-Check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09928"/>
            <a:ext cx="1677009" cy="4416552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1847088"/>
            <a:ext cx="1457553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🐾 PetTriage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212848"/>
            <a:ext cx="1494129" cy="502920"/>
          </a:xfrm>
          <a:prstGeom prst="roundRect">
            <a:avLst>
              <a:gd name="adj" fmla="val 6000"/>
            </a:avLst>
          </a:prstGeom>
          <a:solidFill>
            <a:srgbClr val="45613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맑은 고딕"/>
              </a:rPr>
              <a:t>🐶 콩이</a:t>
            </a:r>
          </a:p>
          <a:p>
            <a:pPr algn="ctr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맑은 고딕"/>
              </a:rPr>
              <a:t>소형견·2살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98648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4A5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FFFFFF"/>
                </a:solidFill>
                <a:latin typeface="맑은 고딕"/>
              </a:rPr>
              <a:t>🔍 위험 체크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27832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C9D6C6"/>
                </a:solidFill>
                <a:latin typeface="맑은 고딕"/>
              </a:rPr>
              <a:t>💬 채팅 내역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57015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C9D6C6"/>
                </a:solidFill>
                <a:latin typeface="맑은 고딕"/>
              </a:rPr>
              <a:t>📖 기록장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C9D6C6"/>
                </a:solidFill>
                <a:latin typeface="맑은 고딕"/>
              </a:rPr>
              <a:t>🐾 반려동물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17089" y="1709928"/>
            <a:ext cx="4175150" cy="3044952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53137" y="1847088"/>
            <a:ext cx="2505090" cy="365760"/>
          </a:xfrm>
          <a:prstGeom prst="roundRect">
            <a:avLst>
              <a:gd name="adj" fmla="val 6000"/>
            </a:avLst>
          </a:prstGeom>
          <a:solidFill>
            <a:srgbClr val="D89B3D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A2A0E"/>
                </a:solidFill>
                <a:latin typeface="맑은 고딕"/>
              </a:rPr>
              <a:t>강아지가 초콜릿을 먹었어요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54249" y="2304288"/>
            <a:ext cx="1188720" cy="219456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B3542F"/>
                </a:solidFill>
                <a:latin typeface="맑은 고딕"/>
              </a:rPr>
              <a:t>● 지금 연락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54249" y="2551176"/>
            <a:ext cx="2712110" cy="50292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2C2A26"/>
                </a:solidFill>
                <a:latin typeface="맑은 고딕"/>
              </a:rPr>
              <a:t>초콜릿의 테오브로민 성분은 소량으로도 위험할 수 있어요...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4249" y="4462272"/>
            <a:ext cx="390083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A39C8C"/>
                </a:solidFill>
                <a:latin typeface="맑은 고딕"/>
              </a:rPr>
              <a:t>[예시질문 chip]  [예시질문 chip]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4249" y="4846320"/>
            <a:ext cx="335219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메시지 입력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79" y="4846320"/>
            <a:ext cx="457200" cy="384048"/>
          </a:xfrm>
          <a:prstGeom prst="roundRect">
            <a:avLst>
              <a:gd name="adj" fmla="val 6000"/>
            </a:avLst>
          </a:prstGeom>
          <a:solidFill>
            <a:srgbClr val="4F6B4A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맑은 고딕"/>
              </a:rPr>
              <a:t>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1417320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0568" y="1444752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관련 요구사항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1444752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FR-CHAT-001~006, FR-UI-001~004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1929384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0568" y="1956816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진입 경로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1956816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사이드바 "위험 체크" 메뉴 · SC-003 카드 클릭 · 로그인 직후(첫 pet 자동 선택)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496312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UI 구성요소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2752344"/>
            <a:ext cx="4983480" cy="818388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30568" y="2816352"/>
            <a:ext cx="4764024" cy="8183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사이드바(공통 메뉴 + 현재 반려동물 프로필 카드)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채팅 로그 영역, 예시 질문 chip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메시지 입력창 + 전송 버튼, 하단 면책 문구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698748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동작 / 이벤트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3954780"/>
            <a:ext cx="4983480" cy="1042415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30568" y="4018788"/>
            <a:ext cx="4764024" cy="104241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질문 전송 → FastAPI POST /api/ask 호출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응급도 1~4(관찰/곧방문/지금연락/응급) 배지 + 근거 인용 포함 답변 표시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체중·먹은 양 등 정보 부족 시 되묻기, 범위 밖 질문은 정중히 거절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동일 세션 내 대화 맥락 유지(session_id)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125212"/>
            <a:ext cx="4983480" cy="2194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다음 화면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5362956"/>
            <a:ext cx="4983480" cy="329184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3542F"/>
                </a:solidFill>
                <a:latin typeface="맑은 고딕"/>
              </a:rPr>
              <a:t>사이드바 메뉴로 SC-006 / SC-008 / SC-003 이동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SC-006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채팅 내역 목록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Chat History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9893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989320" cy="292608"/>
          </a:xfrm>
          <a:prstGeom prst="rect">
            <a:avLst/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508760"/>
            <a:ext cx="100584" cy="100584"/>
          </a:xfrm>
          <a:prstGeom prst="ellipse">
            <a:avLst/>
          </a:prstGeom>
          <a:solidFill>
            <a:srgbClr val="B3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1508760"/>
            <a:ext cx="100584" cy="100584"/>
          </a:xfrm>
          <a:prstGeom prst="ellipse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1508760"/>
            <a:ext cx="100584" cy="100584"/>
          </a:xfrm>
          <a:prstGeom prst="ellipse">
            <a:avLst/>
          </a:prstGeom>
          <a:solidFill>
            <a:srgbClr val="4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1444752"/>
            <a:ext cx="489204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Chat History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09928"/>
            <a:ext cx="1677009" cy="4416552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1984248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C9D6C6"/>
                </a:solidFill>
                <a:latin typeface="맑은 고딕"/>
              </a:rPr>
              <a:t>🔍 위험 체크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313432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4A5F44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FFFFFF"/>
                </a:solidFill>
                <a:latin typeface="맑은 고딕"/>
              </a:rPr>
              <a:t>💬 채팅 내역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42615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C9D6C6"/>
                </a:solidFill>
                <a:latin typeface="맑은 고딕"/>
              </a:rPr>
              <a:t>📖 기록장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71799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C9D6C6"/>
                </a:solidFill>
                <a:latin typeface="맑은 고딕"/>
              </a:rPr>
              <a:t>🐾 반려동물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7089" y="1709928"/>
            <a:ext cx="417515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2A26"/>
                </a:solidFill>
                <a:latin typeface="맑은 고딕"/>
              </a:rPr>
              <a:t>채팅 내역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17089" y="2075688"/>
            <a:ext cx="417515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26817" y="2130552"/>
            <a:ext cx="298643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A39C8C"/>
                </a:solidFill>
                <a:latin typeface="맑은 고딕"/>
              </a:rPr>
              <a:t>2026.08.26 10:12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6817" y="2313432"/>
            <a:ext cx="298643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2C2A26"/>
                </a:solidFill>
                <a:latin typeface="맑은 고딕"/>
              </a:rPr>
              <a:t>강아지가 초콜릿을 먹었는데...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2194560"/>
            <a:ext cx="822960" cy="274320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B3542F"/>
                </a:solidFill>
                <a:latin typeface="맑은 고딕"/>
              </a:rPr>
              <a:t>지금연락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17089" y="2670048"/>
            <a:ext cx="417515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26817" y="2724912"/>
            <a:ext cx="298643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A39C8C"/>
                </a:solidFill>
                <a:latin typeface="맑은 고딕"/>
              </a:rPr>
              <a:t>2026.08.24 21:03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6817" y="2907791"/>
            <a:ext cx="298643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2C2A26"/>
                </a:solidFill>
                <a:latin typeface="맑은 고딕"/>
              </a:rPr>
              <a:t>고양이 화장실 횟수가 줄었어요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2788920"/>
            <a:ext cx="822960" cy="274320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4F6B4A"/>
                </a:solidFill>
                <a:latin typeface="맑은 고딕"/>
              </a:rPr>
              <a:t>관찰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17089" y="3264408"/>
            <a:ext cx="417515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26817" y="3319272"/>
            <a:ext cx="298643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A39C8C"/>
                </a:solidFill>
                <a:latin typeface="맑은 고딕"/>
              </a:rPr>
              <a:t>2026.08.20 08:40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6817" y="3502152"/>
            <a:ext cx="298643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2C2A26"/>
                </a:solidFill>
                <a:latin typeface="맑은 고딕"/>
              </a:rPr>
              <a:t>새 배변 상태가 이상해요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383279"/>
            <a:ext cx="822960" cy="274320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C98A1E"/>
                </a:solidFill>
                <a:latin typeface="맑은 고딕"/>
              </a:rPr>
              <a:t>곧방문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1417320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0568" y="1444752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관련 요구사항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1444752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FR-HIST-001, FR-HIST-002, FR-HIST-004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1929384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30568" y="1956816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진입 경로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1956816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사이드바 "채팅 내역" 메뉴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2496312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UI 구성요소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2752344"/>
            <a:ext cx="4983480" cy="59436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30568" y="2816352"/>
            <a:ext cx="4764024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세션 카드 목록(날짜, 대화 미리보기, 최고 응급도 배지)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빈 상태 안내 문구(대화 이력이 없을 때)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474720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동작 / 이벤트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3730752"/>
            <a:ext cx="4983480" cy="594360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30568" y="3794760"/>
            <a:ext cx="4764024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카드 클릭 → 세션 상세 화면 이동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본인 소유 반려동물의 세션만 최신순으로 노출(다른 사용자 세션은 절대 미노출, 접근 시 404)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4453127"/>
            <a:ext cx="4983480" cy="2194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다음 화면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4690872"/>
            <a:ext cx="4983480" cy="329184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3542F"/>
                </a:solidFill>
                <a:latin typeface="맑은 고딕"/>
              </a:rPr>
              <a:t>SC-007(세션 상세)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SC-007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채팅 세션 상세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Chat Session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9893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989320" cy="292608"/>
          </a:xfrm>
          <a:prstGeom prst="rect">
            <a:avLst/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508760"/>
            <a:ext cx="100584" cy="100584"/>
          </a:xfrm>
          <a:prstGeom prst="ellipse">
            <a:avLst/>
          </a:prstGeom>
          <a:solidFill>
            <a:srgbClr val="B3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1508760"/>
            <a:ext cx="100584" cy="100584"/>
          </a:xfrm>
          <a:prstGeom prst="ellipse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1508760"/>
            <a:ext cx="100584" cy="100584"/>
          </a:xfrm>
          <a:prstGeom prst="ellipse">
            <a:avLst/>
          </a:prstGeom>
          <a:solidFill>
            <a:srgbClr val="4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1444752"/>
            <a:ext cx="489204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Chat Session Detail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09928"/>
            <a:ext cx="1677009" cy="4416552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1984248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C9D6C6"/>
                </a:solidFill>
                <a:latin typeface="맑은 고딕"/>
              </a:rPr>
              <a:t>🔍 위험 체크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313432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4A5F44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FFFFFF"/>
                </a:solidFill>
                <a:latin typeface="맑은 고딕"/>
              </a:rPr>
              <a:t>💬 채팅 내역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42615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C9D6C6"/>
                </a:solidFill>
                <a:latin typeface="맑은 고딕"/>
              </a:rPr>
              <a:t>📖 기록장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71799"/>
            <a:ext cx="1494129" cy="292608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C9D6C6"/>
                </a:solidFill>
                <a:latin typeface="맑은 고딕"/>
              </a:rPr>
              <a:t>🐾 반려동물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7089" y="1709928"/>
            <a:ext cx="417515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← 목록으로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7089" y="1984248"/>
            <a:ext cx="417515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C2A26"/>
                </a:solidFill>
                <a:latin typeface="맑은 고딕"/>
              </a:rPr>
              <a:t>2026년 8월 26일 10:12 상담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78392" y="2395728"/>
            <a:ext cx="2713847" cy="411480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5C10"/>
                </a:solidFill>
                <a:latin typeface="맑은 고딕"/>
              </a:rPr>
              <a:t>강아지가 초콜릿을 먹었어요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17089" y="2898648"/>
            <a:ext cx="3006108" cy="59436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>
              <a:lnSpc>
                <a:spcPct val="115000"/>
              </a:lnSpc>
            </a:pPr>
            <a:r>
              <a:rPr lang="ko-KR" altLang="ko-KR" sz="800"/>
              <a:t>🔴</a:t>
            </a:r>
            <a:r>
              <a:rPr sz="800" b="0">
                <a:solidFill>
                  <a:srgbClr val="3A4F37"/>
                </a:solidFill>
                <a:latin typeface="맑은 고딕"/>
              </a:rPr>
              <a:t> 지금 연락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3A4F37"/>
                </a:solidFill>
                <a:latin typeface="맑은 고딕"/>
              </a:rPr>
              <a:t>초콜릿의 테오브로민 성분은...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417320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0568" y="1444752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관련 요구사항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444752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FR-HIST-003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1929384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0568" y="1956816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진입 경로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956816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SC-006에서 세션 카드 클릭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496312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UI 구성요소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752344"/>
            <a:ext cx="4983480" cy="818388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30568" y="2816352"/>
            <a:ext cx="4764024" cy="8183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"목록으로" 뒤로가기 링크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대화 말풍선 스트림(보호자/AI 구분 정렬)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AI 답변 말풍선의 응급도 배지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698748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동작 / 이벤트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954780"/>
            <a:ext cx="4983480" cy="594360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30568" y="4018788"/>
            <a:ext cx="4764024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선택한 세션의 전체 대화를 순서대로 표시(읽기 전용)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"목록으로" 클릭 시 SC-006 복귀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677156"/>
            <a:ext cx="4983480" cy="2194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다음 화면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4914900"/>
            <a:ext cx="4983480" cy="329184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3542F"/>
                </a:solidFill>
                <a:latin typeface="맑은 고딕"/>
              </a:rPr>
              <a:t>SC-006(채팅 내역 목록)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EEDA"/>
                </a:solidFill>
                <a:latin typeface="맑은 고딕"/>
              </a:rPr>
              <a:t>SC-008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77240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기록장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6C6"/>
                </a:solidFill>
                <a:latin typeface="맑은 고딕"/>
              </a:rPr>
              <a:t>Diary /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9893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989320" cy="292608"/>
          </a:xfrm>
          <a:prstGeom prst="rect">
            <a:avLst/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508760"/>
            <a:ext cx="100584" cy="100584"/>
          </a:xfrm>
          <a:prstGeom prst="ellipse">
            <a:avLst/>
          </a:prstGeom>
          <a:solidFill>
            <a:srgbClr val="B3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1508760"/>
            <a:ext cx="100584" cy="100584"/>
          </a:xfrm>
          <a:prstGeom prst="ellipse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1508760"/>
            <a:ext cx="100584" cy="100584"/>
          </a:xfrm>
          <a:prstGeom prst="ellipse">
            <a:avLst/>
          </a:prstGeom>
          <a:solidFill>
            <a:srgbClr val="4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1444752"/>
            <a:ext cx="489204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558"/>
                </a:solidFill>
                <a:latin typeface="맑은 고딕"/>
              </a:rPr>
              <a:t>Diary /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09928"/>
            <a:ext cx="1796795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D89B3D"/>
                </a:solidFill>
                <a:latin typeface="맑은 고딕"/>
              </a:rPr>
              <a:t>🔥 연속 기록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D89B3D"/>
                </a:solidFill>
                <a:latin typeface="맑은 고딕"/>
              </a:rPr>
              <a:t>7 일째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31720"/>
            <a:ext cx="1796795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📈 체중 변화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3A4F37"/>
                </a:solidFill>
                <a:latin typeface="맑은 고딕"/>
              </a:rPr>
              <a:t>4.2kg  [그래프]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82112"/>
            <a:ext cx="1796795" cy="320040"/>
          </a:xfrm>
          <a:prstGeom prst="roundRect">
            <a:avLst>
              <a:gd name="adj" fmla="val 6000"/>
            </a:avLst>
          </a:prstGeom>
          <a:solidFill>
            <a:srgbClr val="4F6B4A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맑은 고딕"/>
              </a:rPr>
              <a:t>⬇ 리포트 다운로드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75304"/>
            <a:ext cx="1796795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6558"/>
                </a:solidFill>
                <a:latin typeface="맑은 고딕"/>
              </a:rPr>
              <a:t>📅 캘린더</a:t>
            </a:r>
          </a:p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6558"/>
                </a:solidFill>
                <a:latin typeface="맑은 고딕"/>
              </a:rPr>
              <a:t>S M T W T F S</a:t>
            </a:r>
          </a:p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6558"/>
                </a:solidFill>
                <a:latin typeface="맑은 고딕"/>
              </a:rPr>
              <a:t>[  ●  ●    ● 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36875" y="1709928"/>
            <a:ext cx="4055363" cy="32004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A4F37"/>
                </a:solidFill>
                <a:latin typeface="맑은 고딕"/>
              </a:rPr>
              <a:t>2026년 8월 26일 (수)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6875" y="2093976"/>
            <a:ext cx="1946574" cy="45720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C2A26"/>
                </a:solidFill>
                <a:latin typeface="맑은 고딕"/>
              </a:rPr>
              <a:t>체중</a:t>
            </a:r>
          </a:p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C2A26"/>
                </a:solidFill>
                <a:latin typeface="맑은 고딕"/>
              </a:rPr>
              <a:t>4.20 kg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5665" y="2093976"/>
            <a:ext cx="1946574" cy="45720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A39C8C"/>
                </a:solidFill>
                <a:latin typeface="맑은 고딕"/>
              </a:rPr>
              <a:t>사진 미리보기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36875" y="2624328"/>
            <a:ext cx="4055363" cy="50292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C2A26"/>
                </a:solidFill>
                <a:latin typeface="맑은 고딕"/>
              </a:rPr>
              <a:t>🌅아침 ☀️점심 🌙저녁 🍪간식 (식사기록)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36875" y="3191256"/>
            <a:ext cx="4055363" cy="365760"/>
          </a:xfrm>
          <a:prstGeom prst="roundRect">
            <a:avLst>
              <a:gd name="adj" fmla="val 6000"/>
            </a:avLst>
          </a:prstGeom>
          <a:solidFill>
            <a:srgbClr val="FAF6EF"/>
          </a:solidFill>
          <a:ln w="635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C2A26"/>
                </a:solidFill>
                <a:latin typeface="맑은 고딕"/>
              </a:rPr>
              <a:t>증상: 특이 증상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36875" y="3630168"/>
            <a:ext cx="4055363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4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A4F37"/>
                </a:solidFill>
                <a:latin typeface="맑은 고딕"/>
              </a:rPr>
              <a:t>[기록 수정하기]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5212080"/>
            <a:ext cx="1965960" cy="777240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 w="6350">
            <a:solidFill>
              <a:srgbClr val="D8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A5C10"/>
                </a:solidFill>
                <a:latin typeface="맑은 고딕"/>
              </a:rPr>
              <a:t>⚠ 주의</a:t>
            </a:r>
          </a:p>
          <a:p>
            <a:pPr algn="l">
              <a:lnSpc>
                <a:spcPct val="115000"/>
              </a:lnSpc>
            </a:pPr>
            <a:r>
              <a:rPr sz="750" b="0">
                <a:solidFill>
                  <a:srgbClr val="8A5C10"/>
                </a:solidFill>
                <a:latin typeface="맑은 고딕"/>
              </a:rPr>
              <a:t>체중이 6.5% 증가했어요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417320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0568" y="1444752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관련 요구사항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1444752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FR-DIARY-001~011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1929384"/>
            <a:ext cx="4983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0568" y="1956816"/>
            <a:ext cx="118872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A4F37"/>
                </a:solidFill>
                <a:latin typeface="맑은 고딕"/>
              </a:rPr>
              <a:t>진입 경로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1956816"/>
            <a:ext cx="3520440" cy="40233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2A26"/>
                </a:solidFill>
                <a:latin typeface="맑은 고딕"/>
              </a:rPr>
              <a:t>사이드바 "기록장" 메뉴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496312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UI 구성요소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2752344"/>
            <a:ext cx="4983480" cy="1042415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0568" y="2816352"/>
            <a:ext cx="4764024" cy="104241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좌측 고정 패널: 스트릭 카드, 체중변화 그래프+상태, 리포트 다운로드 버튼, 월별 캘린더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우측 패널: 선택 일자 기록 조회/수정 폼(체중, 사진, 식사, 증상, [새]배설물, 메모)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다운로드 모달(1개월/3개월/직접입력 기간 선택)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우측 하단 체중 급변 알림 토스트(주의/병원 2단계)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922775"/>
            <a:ext cx="4983480" cy="2377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주요 동작 / 이벤트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178807"/>
            <a:ext cx="4983480" cy="1042415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30568" y="4242816"/>
            <a:ext cx="4764024" cy="104241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날짜 선택(캘린더) → 해당 일자 기록 조회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기록 저장/수정(같은 날 재저장 시 갱신)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리포트 다운로드: 기간 선택 → GET /api/report 조회 → FastAPI AI 요약 → 클라이언트(JS)에서 .txt 파일 생성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00">
                <a:solidFill>
                  <a:srgbClr val="2C2A26"/>
                </a:solidFill>
                <a:latin typeface="맑은 고딕"/>
              </a:rPr>
              <a:t>- 체중 급변(전일 대비 5%↑주의/10%↑병원, 성장기 제외) · 연속 기록일수는 자동 계산되어 표시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349239"/>
            <a:ext cx="4983480" cy="2194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A4F37"/>
                </a:solidFill>
                <a:latin typeface="맑은 고딕"/>
              </a:rPr>
              <a:t>다음 화면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5586983"/>
            <a:ext cx="4983480" cy="329184"/>
          </a:xfrm>
          <a:prstGeom prst="roundRect">
            <a:avLst>
              <a:gd name="adj" fmla="val 6000"/>
            </a:avLst>
          </a:prstGeom>
          <a:solidFill>
            <a:srgbClr val="F6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3542F"/>
                </a:solidFill>
                <a:latin typeface="맑은 고딕"/>
              </a:rPr>
              <a:t>사이드바 메뉴로 다른 화면 이동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39C8C"/>
                </a:solidFill>
                <a:latin typeface="맑은 고딕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9C8C"/>
                </a:solidFill>
                <a:latin typeface="맑은 고딕"/>
              </a:rPr>
              <a:t>PetTriage 화면정의서 v1.1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1698</Words>
  <Application>Microsoft Office PowerPoint</Application>
  <PresentationFormat>와이드스크린</PresentationFormat>
  <Paragraphs>343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이서영</cp:lastModifiedBy>
  <cp:revision>2</cp:revision>
  <dcterms:created xsi:type="dcterms:W3CDTF">2013-01-27T09:14:16Z</dcterms:created>
  <dcterms:modified xsi:type="dcterms:W3CDTF">2026-08-26T15:32:46Z</dcterms:modified>
  <cp:category/>
</cp:coreProperties>
</file>